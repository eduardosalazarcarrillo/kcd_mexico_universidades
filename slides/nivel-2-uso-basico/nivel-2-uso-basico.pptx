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1852" y="1620887"/>
            <a:ext cx="508029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2: Uso Básico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031852" y="2493913"/>
            <a:ext cx="5080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8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para Universidades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31852" y="3284488"/>
            <a:ext cx="5080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KCD México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16117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81611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Fundamentales de Kubernetes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777901"/>
            <a:ext cx="8001149" cy="1406277"/>
          </a:xfrm>
          <a:prstGeom prst="roundRect">
            <a:avLst>
              <a:gd name="adj" fmla="val 72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2031802"/>
            <a:ext cx="7643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802" y="2396877"/>
            <a:ext cx="76432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los recursos básicos que maneja Kubernetes para desplegar y gestionar aplicaciones containerizadas.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498402"/>
            <a:ext cx="388620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mínima desplegable en Kubernetes. Contiene uno o más contenedores que comparten red y almacenamiento.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381845"/>
            <a:ext cx="3810000" cy="731341"/>
          </a:xfrm>
          <a:prstGeom prst="roundRect">
            <a:avLst>
              <a:gd name="adj" fmla="val 10419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2381845"/>
            <a:ext cx="0" cy="731341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2534245"/>
            <a:ext cx="35267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Pods son efímeros - pueden ser destruidos y recreados en cualquier momento.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901" y="1107877"/>
            <a:ext cx="38863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5901" y="1498402"/>
            <a:ext cx="3810149" cy="10560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IP única dentro del clúster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 comparten localhost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Volúmenes compartidos entre contenedores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gestionado por Kubernetes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498402"/>
            <a:ext cx="388620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que un número específico de réplicas de Pods estén ejecutándose en todo momento.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150864"/>
            <a:ext cx="3810000" cy="731341"/>
          </a:xfrm>
          <a:prstGeom prst="roundRect">
            <a:avLst>
              <a:gd name="adj" fmla="val 1041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2150864"/>
            <a:ext cx="0" cy="731341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2303264"/>
            <a:ext cx="35267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Raramente se crean directamente. Los Deployments los gestionan automáticamente.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901" y="1107877"/>
            <a:ext cx="38863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5901" y="1498402"/>
            <a:ext cx="3810149" cy="10560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Mantiene el número deseado de Pods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 Pods si fallan o son eliminados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selectores para identificar Pods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alta disponibilidad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498402"/>
            <a:ext cx="388620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recomendada de gestionar aplicaciones stateless. Define el estado deseado y Kubernetes lo mantiene.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381845"/>
            <a:ext cx="3810000" cy="731341"/>
          </a:xfrm>
          <a:prstGeom prst="roundRect">
            <a:avLst>
              <a:gd name="adj" fmla="val 10419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2381845"/>
            <a:ext cx="0" cy="73134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2534245"/>
            <a:ext cx="35267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Deployments en lugar de crear Pods o ReplicaSets directamente.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901" y="1107877"/>
            <a:ext cx="38863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5901" y="1498402"/>
            <a:ext cx="3810149" cy="132010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 sin downtime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Rollbacks a versiones anteriores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 declarativo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revisiones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automático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y Labels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3810000" cy="1746647"/>
          </a:xfrm>
          <a:prstGeom prst="roundRect">
            <a:avLst>
              <a:gd name="adj" fmla="val 58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5401" y="1361926"/>
            <a:ext cx="34975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5401" y="1727002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Clústeres virtuales dentro del mismo clúster físico.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401" y="2041773"/>
            <a:ext cx="3429000" cy="685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Aíslan recursos por equipo o proyecto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aplicar cuotas de recursos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Facilitan control de acceso (RBAC)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901" y="1171426"/>
            <a:ext cx="3810149" cy="1746647"/>
          </a:xfrm>
          <a:prstGeom prst="roundRect">
            <a:avLst>
              <a:gd name="adj" fmla="val 5817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16401" y="1361926"/>
            <a:ext cx="34977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y Selectors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16401" y="1727002"/>
            <a:ext cx="34977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Pares clave-valor para organizar objetos.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6401" y="2041773"/>
            <a:ext cx="3429149" cy="685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 y agrupan recursos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filtran por labels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Esenciales para Services y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16117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81611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y Archivos YAML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777901"/>
            <a:ext cx="8001149" cy="1406277"/>
          </a:xfrm>
          <a:prstGeom prst="roundRect">
            <a:avLst>
              <a:gd name="adj" fmla="val 72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2031802"/>
            <a:ext cx="7643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802" y="2396877"/>
            <a:ext cx="76432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la línea de comandos de Kubernetes y crear manifiestos declarativos para gestionar recursos.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- Comandos Esenciales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044476"/>
            <a:ext cx="81611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CLI para interactuar con el clúster de Kubernetes.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48246"/>
            <a:ext cx="39510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901" y="1794272"/>
            <a:ext cx="3873550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1921222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7301" y="2116782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 pods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2540794"/>
            <a:ext cx="3873550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7301" y="2667744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pod [name]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7301" y="2863304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Detalles del pod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3287316"/>
            <a:ext cx="3873550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7301" y="3414266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[pod]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7301" y="3609826"/>
            <a:ext cx="364012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 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62351" y="1448246"/>
            <a:ext cx="39511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62351" y="1794272"/>
            <a:ext cx="3873698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4751" y="1921222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file.yaml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4751" y="2116782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 manifiesto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2351" y="2540794"/>
            <a:ext cx="3873698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4751" y="2667744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-f file.yaml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4751" y="2863304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Eliminar recursos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62351" y="3287316"/>
            <a:ext cx="3873698" cy="645021"/>
          </a:xfrm>
          <a:prstGeom prst="roundRect">
            <a:avLst>
              <a:gd name="adj" fmla="val 11814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4751" y="3414266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-it [pod] -- bash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4751" y="3609826"/>
            <a:ext cx="364027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Acceder al pod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Archivos YAML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981075"/>
            <a:ext cx="35624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Obligatorios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901" y="1317575"/>
            <a:ext cx="3492550" cy="9144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apiVersion: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Versión del API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Tipo de recurso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Nombre, labels, etc.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Estado deseado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422475"/>
            <a:ext cx="35624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758976"/>
            <a:ext cx="3492550" cy="685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indentación con espacios (no tabs)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antes de aplicar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Versionar en Git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901" y="981075"/>
            <a:ext cx="42749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44901" y="1317575"/>
            <a:ext cx="4191149" cy="2792611"/>
          </a:xfrm>
          <a:prstGeom prst="roundRect">
            <a:avLst>
              <a:gd name="adj" fmla="val 2729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97301" y="1469975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apps/v1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7301" y="1647676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7301" y="1825377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7301" y="2003078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7301" y="2180779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97301" y="2358479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7301" y="2536180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7301" y="2713881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matchLabels: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7301" y="2891582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mi-app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7301" y="3069282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97301" y="3246983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7301" y="3424684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7301" y="3602385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‑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7301" y="3780086"/>
            <a:ext cx="396407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nginx:latest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vs create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3841849" cy="2427833"/>
          </a:xfrm>
          <a:prstGeom prst="roundRect">
            <a:avLst>
              <a:gd name="adj" fmla="val 4185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171426"/>
            <a:ext cx="0" cy="2427833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6427" y="1425327"/>
            <a:ext cx="33521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create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6427" y="1844427"/>
            <a:ext cx="33521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Imperativo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Crea recursos nuevos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6427" y="2184648"/>
            <a:ext cx="3286423" cy="685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si el recurso ya existe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para creación inicial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actualiza recursos existentes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6427" y="2997398"/>
            <a:ext cx="3286423" cy="347960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3377" y="3073598"/>
            <a:ext cx="309317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-f pod.yaml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94200" y="1171426"/>
            <a:ext cx="3841849" cy="2427833"/>
          </a:xfrm>
          <a:prstGeom prst="roundRect">
            <a:avLst>
              <a:gd name="adj" fmla="val 4185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8013" y="1171426"/>
            <a:ext cx="0" cy="2427833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5726" y="1425327"/>
            <a:ext cx="33521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95726" y="1844427"/>
            <a:ext cx="33521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</a:t>
            </a:r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Crea o actualiza recursos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95726" y="2184648"/>
            <a:ext cx="3286423" cy="685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si no existe, actualiza si existe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 para producción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gestión GitOps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95726" y="2997398"/>
            <a:ext cx="3286423" cy="347960"/>
          </a:xfrm>
          <a:prstGeom prst="roundRect">
            <a:avLst>
              <a:gd name="adj" fmla="val 14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22677" y="3073598"/>
            <a:ext cx="309317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pod.yaml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16117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816117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y Networking en Kubernetes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777901"/>
            <a:ext cx="8001149" cy="1406277"/>
          </a:xfrm>
          <a:prstGeom prst="roundRect">
            <a:avLst>
              <a:gd name="adj" fmla="val 722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2031802"/>
            <a:ext cx="764321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802" y="2396877"/>
            <a:ext cx="764321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cómo se comunican las aplicaciones dentro y fuera del clúster mediante Services e Ingress.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Red en Kubernetes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3810000" cy="944612"/>
          </a:xfrm>
          <a:prstGeom prst="roundRect">
            <a:avLst>
              <a:gd name="adj" fmla="val 8067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107877"/>
            <a:ext cx="0" cy="944612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4926" y="1260277"/>
            <a:ext cx="35267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4926" y="1473547"/>
            <a:ext cx="352672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Pods son efímeros. Sus IPs cambian cada vez que son recreados.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052489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01" y="2443014"/>
            <a:ext cx="3810000" cy="7920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 de Pods no son estables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se escalan dinámicamente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balanceo de carga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5901" y="1107877"/>
            <a:ext cx="3810149" cy="944612"/>
          </a:xfrm>
          <a:prstGeom prst="roundRect">
            <a:avLst>
              <a:gd name="adj" fmla="val 8067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49713" y="1107877"/>
            <a:ext cx="0" cy="944612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5926" y="1260277"/>
            <a:ext cx="35268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5926" y="1473547"/>
            <a:ext cx="352687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Abstracción que provee IP estable y DNS para acceder a un conjunto de Pods.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5901" y="2052489"/>
            <a:ext cx="38863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5901" y="2443014"/>
            <a:ext cx="3810149" cy="79206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y DNS estables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 de servicios</a:t>
            </a:r>
            <a:endParaRPr lang="en-US" sz="1300" dirty="0"/>
          </a:p>
          <a:p>
            <a:pPr algn="l" marL="114300" indent="-1143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de carga automático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71500" y="981075"/>
            <a:ext cx="2582317" cy="1990130"/>
          </a:xfrm>
          <a:prstGeom prst="roundRect">
            <a:avLst>
              <a:gd name="adj" fmla="val 51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201" y="1158776"/>
            <a:ext cx="2226915" cy="224730"/>
          </a:xfrm>
          <a:prstGeom prst="roundRect">
            <a:avLst>
              <a:gd name="adj" fmla="val 16954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5401" y="1196876"/>
            <a:ext cx="21160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201" y="1485007"/>
            <a:ext cx="22714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201" y="1796058"/>
            <a:ext cx="227145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interna accesible solo dentro del clúster. Es el tipo por defecto.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201" y="2260699"/>
            <a:ext cx="2226915" cy="532805"/>
          </a:xfrm>
          <a:prstGeom prst="roundRect">
            <a:avLst>
              <a:gd name="adj" fmla="val 95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0702" y="2362200"/>
            <a:ext cx="206439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Comunicación entre microservicios internos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4317" y="981075"/>
            <a:ext cx="2582466" cy="1990130"/>
          </a:xfrm>
          <a:prstGeom prst="roundRect">
            <a:avLst>
              <a:gd name="adj" fmla="val 51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2018" y="1158776"/>
            <a:ext cx="2227064" cy="224730"/>
          </a:xfrm>
          <a:prstGeom prst="roundRect">
            <a:avLst>
              <a:gd name="adj" fmla="val 16954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8218" y="1196876"/>
            <a:ext cx="211615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2018" y="1485007"/>
            <a:ext cx="22716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2018" y="1796058"/>
            <a:ext cx="227160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un puerto (30000-32767) en cada nodo del clúster.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2018" y="2260699"/>
            <a:ext cx="2227064" cy="532805"/>
          </a:xfrm>
          <a:prstGeom prst="roundRect">
            <a:avLst>
              <a:gd name="adj" fmla="val 95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23518" y="2362200"/>
            <a:ext cx="206454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Desarrollo, pruebas, acceso directo a nodos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17282" y="981075"/>
            <a:ext cx="2582317" cy="1990130"/>
          </a:xfrm>
          <a:prstGeom prst="roundRect">
            <a:avLst>
              <a:gd name="adj" fmla="val 5105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4983" y="1158776"/>
            <a:ext cx="2226915" cy="224730"/>
          </a:xfrm>
          <a:prstGeom prst="roundRect">
            <a:avLst>
              <a:gd name="adj" fmla="val 1695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1183" y="1196876"/>
            <a:ext cx="211600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4983" y="1485007"/>
            <a:ext cx="22714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4983" y="1796058"/>
            <a:ext cx="227145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 un balanceador de carga externo del cloud provider.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4983" y="2260699"/>
            <a:ext cx="2226915" cy="532805"/>
          </a:xfrm>
          <a:prstGeom prst="roundRect">
            <a:avLst>
              <a:gd name="adj" fmla="val 95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96484" y="2362200"/>
            <a:ext cx="206439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Producción en la nube (GKE, EKS, AKS)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498402"/>
            <a:ext cx="388620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acceso HTTP/HTTPS externo a servicios del clúster. Actúa como punto de entrada único.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2112764"/>
            <a:ext cx="3810000" cy="695920"/>
          </a:xfrm>
          <a:prstGeom prst="roundRect">
            <a:avLst>
              <a:gd name="adj" fmla="val 1095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2112764"/>
            <a:ext cx="0" cy="69592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2265164"/>
            <a:ext cx="352672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Ingress Controller instalado (nginx, traefik, etc.)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5901" y="1107877"/>
            <a:ext cx="38863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5901" y="1498402"/>
            <a:ext cx="3810149" cy="1143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basado en hosts y paths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Terminación SSL/TLS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IP para múltiples servicios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de carga L7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Reescritura de URLs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Interno del Clúster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07877"/>
            <a:ext cx="816117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provee DNS automático para descubrimiento de servicios. Cada Service obtiene un nombre DNS.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4901" y="1760339"/>
            <a:ext cx="81611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2188964"/>
            <a:ext cx="8001149" cy="629989"/>
          </a:xfrm>
          <a:prstGeom prst="roundRect">
            <a:avLst>
              <a:gd name="adj" fmla="val 16127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3868" y="2379464"/>
            <a:ext cx="764321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0A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[service-name].[namespace].svc.cluster.local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009454"/>
            <a:ext cx="8001149" cy="1630114"/>
          </a:xfrm>
          <a:prstGeom prst="roundRect">
            <a:avLst>
              <a:gd name="adj" fmla="val 6233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5401" y="3199954"/>
            <a:ext cx="77725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5401" y="3590479"/>
            <a:ext cx="77725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namespace: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5401" y="3876675"/>
            <a:ext cx="77725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 namespace: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mysql.database.svc.cluster.local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401" y="4162871"/>
            <a:ext cx="7772552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corta: </a:t>
            </a:r>
            <a:pPr algn="l" indent="0" marL="0">
              <a:lnSpc>
                <a:spcPts val="168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mysql.database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5079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- Nivel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976"/>
            <a:ext cx="2540050" cy="1670000"/>
          </a:xfrm>
          <a:prstGeom prst="roundRect">
            <a:avLst>
              <a:gd name="adj" fmla="val 60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58788"/>
            <a:ext cx="2540050" cy="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550" y="1511201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6550" y="1838176"/>
            <a:ext cx="2082850" cy="8382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Pods: unidad mínima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ReplicaSets: réplicas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Deployments: gestión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y Labels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1234976"/>
            <a:ext cx="2540198" cy="1670000"/>
          </a:xfrm>
          <a:prstGeom prst="roundRect">
            <a:avLst>
              <a:gd name="adj" fmla="val 60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01901" y="1258788"/>
            <a:ext cx="2540198" cy="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0501" y="1511201"/>
            <a:ext cx="2124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30501" y="1838176"/>
            <a:ext cx="2082998" cy="8382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kubectl: CLI de K8s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Manifiestos YAML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vs create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declarativo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0" y="1234976"/>
            <a:ext cx="2540050" cy="1670000"/>
          </a:xfrm>
          <a:prstGeom prst="roundRect">
            <a:avLst>
              <a:gd name="adj" fmla="val 60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1258788"/>
            <a:ext cx="2540050" cy="0"/>
          </a:xfrm>
          <a:prstGeom prst="line">
            <a:avLst/>
          </a:prstGeom>
          <a:noFill/>
          <a:ln w="47625">
            <a:solidFill>
              <a:srgbClr val="32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600" y="1511201"/>
            <a:ext cx="2124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4600" y="1838176"/>
            <a:ext cx="2082850" cy="8382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ClusterIP, NodePort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LoadBalancer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interno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Nivel 2: Uso Básico - Kubernetes para Universidades</dc:title>
  <dc:subject>Kubernetes Training</dc:subject>
  <dc:creator>KCD México</dc:creator>
  <cp:lastModifiedBy>KCD México</cp:lastModifiedBy>
  <cp:revision>1</cp:revision>
  <dcterms:created xsi:type="dcterms:W3CDTF">2026-02-02T08:03:50Z</dcterms:created>
  <dcterms:modified xsi:type="dcterms:W3CDTF">2026-02-02T08:03:50Z</dcterms:modified>
</cp:coreProperties>
</file>