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1311325"/>
            <a:ext cx="8290661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4: Operacion y Buenas Practicas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26669" y="2803475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8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Monitoreo y Kubernetes en la Nube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6669" y="3594050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Modulos 10, 11 y 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-91440" y="4333875"/>
            <a:ext cx="93268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KCD Mexico Universidades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10: Seguridad en Kubernetes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427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676102"/>
            <a:ext cx="829066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Introducir conceptos clave de seguridad para proteger el cluster y las aplicaciones.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2067074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2514749"/>
            <a:ext cx="8128099" cy="1453753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Autenticacion y Autorizacion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(Role-Based Access Control)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Accounts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practicas de seguridad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seguro de Secrets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Autenticacion vs Autorizacion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08025"/>
            <a:ext cx="3873550" cy="3718024"/>
          </a:xfrm>
          <a:prstGeom prst="roundRect">
            <a:avLst>
              <a:gd name="adj" fmla="val 2733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8194" y="1361926"/>
            <a:ext cx="3433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Autenticacion (AuthN)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1851" y="1847701"/>
            <a:ext cx="343306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eres?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1851" y="2223641"/>
            <a:ext cx="3433063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la identidad del usuario o servicio que intenta acceder al cluster.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1851" y="2848570"/>
            <a:ext cx="3365748" cy="11046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 X.509</a:t>
            </a:r>
            <a:endParaRPr lang="en-US" sz="13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Bearer</a:t>
            </a:r>
            <a:endParaRPr lang="en-US" sz="13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 Connect (OIDC)</a:t>
            </a:r>
            <a:endParaRPr lang="en-US" sz="13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 Tokens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62500" y="1108025"/>
            <a:ext cx="3873550" cy="3718024"/>
          </a:xfrm>
          <a:prstGeom prst="roundRect">
            <a:avLst>
              <a:gd name="adj" fmla="val 2733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82743" y="1361926"/>
            <a:ext cx="3433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Autorizacion (AuthZ)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16401" y="1847701"/>
            <a:ext cx="343306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puedes hacer?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16401" y="2223641"/>
            <a:ext cx="3433063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 que acciones puede realizar un usuario autenticado.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16401" y="2848570"/>
            <a:ext cx="3365748" cy="11046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(recomendado)</a:t>
            </a:r>
            <a:endParaRPr lang="en-US" sz="13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ABAC</a:t>
            </a:r>
            <a:endParaRPr lang="en-US" sz="13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Authorization</a:t>
            </a:r>
            <a:endParaRPr lang="en-US" sz="13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Mode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RBAC: Role-Based Access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44476"/>
            <a:ext cx="829066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determina 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puede hacer que, donde y cuando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dentro del cluster.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19386"/>
            <a:ext cx="829066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Habilitado por defecto en Kubernetes. Usa el API group: rbac.authorization.k8s.io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994297"/>
            <a:ext cx="2582317" cy="1670000"/>
          </a:xfrm>
          <a:prstGeom prst="roundRect">
            <a:avLst>
              <a:gd name="adj" fmla="val 6084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1994297"/>
            <a:ext cx="0" cy="167000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6075" y="2184797"/>
            <a:ext cx="21967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/ ClusterRole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6075" y="2549872"/>
            <a:ext cx="2196766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permisos (verbos + recursos)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6075" y="3011835"/>
            <a:ext cx="219676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= namespace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6075" y="3242816"/>
            <a:ext cx="219676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ClusterRole = cluster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80767" y="1994297"/>
            <a:ext cx="2582466" cy="1670000"/>
          </a:xfrm>
          <a:prstGeom prst="roundRect">
            <a:avLst>
              <a:gd name="adj" fmla="val 6084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04580" y="1994297"/>
            <a:ext cx="0" cy="167000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8892" y="2184797"/>
            <a:ext cx="21969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RoleBinding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18892" y="2549872"/>
            <a:ext cx="2196917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 un Role a usuarios o ServiceAccounts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18892" y="3011835"/>
            <a:ext cx="2196917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dentro de un namespace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53733" y="1994297"/>
            <a:ext cx="2582317" cy="1670000"/>
          </a:xfrm>
          <a:prstGeom prst="roundRect">
            <a:avLst>
              <a:gd name="adj" fmla="val 6084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77545" y="1994297"/>
            <a:ext cx="0" cy="167000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858" y="2184797"/>
            <a:ext cx="21967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ClusterRoleBinding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91858" y="2549872"/>
            <a:ext cx="219676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 ClusterRole a sujetos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1858" y="2780854"/>
            <a:ext cx="219676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en todo el cluster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RBAC: Ejemplo Practico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81075"/>
            <a:ext cx="3937099" cy="3971925"/>
          </a:xfrm>
          <a:prstGeom prst="roundRect">
            <a:avLst>
              <a:gd name="adj" fmla="val 19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133475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(solo lectura de pods)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0350" y="144452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rbac...k8s.io/v1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50" y="165407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0350" y="186362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0350" y="207317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pod-reader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0350" y="228272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0350" y="249227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0350" y="270182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apiGroups: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[""]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0350" y="291137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["pods"]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0350" y="312092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verbs: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["get","list","watch"]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98950" y="981075"/>
            <a:ext cx="3937099" cy="3971925"/>
          </a:xfrm>
          <a:prstGeom prst="roundRect">
            <a:avLst>
              <a:gd name="adj" fmla="val 19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51350" y="1133475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RoleBinding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51350" y="144452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rbac...k8s.io/v1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51350" y="165407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RoleBinding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51350" y="186362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51350" y="207317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read-pods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51350" y="228272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51350" y="249227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1350" y="270182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51350" y="291137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roleRef: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1350" y="312092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51350" y="3330476"/>
            <a:ext cx="37049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pod-reader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44476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Service Accounts proporcionan 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a los procesos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corren dentro de los Pods.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463576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Permiten que las aplicaciones se autentiquen con el API Server de Kubernetes.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7950" y="1920776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 vs Service Account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2314426"/>
            <a:ext cx="2582317" cy="1255663"/>
          </a:xfrm>
          <a:prstGeom prst="roundRect">
            <a:avLst>
              <a:gd name="adj" fmla="val 6069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2466826"/>
            <a:ext cx="23230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350" y="2777877"/>
            <a:ext cx="23230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humanos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0350" y="2991148"/>
            <a:ext cx="23230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en el cluster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0350" y="3204418"/>
            <a:ext cx="23230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Gestionado externamente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80767" y="2314426"/>
            <a:ext cx="2582466" cy="1255663"/>
          </a:xfrm>
          <a:prstGeom prst="roundRect">
            <a:avLst>
              <a:gd name="adj" fmla="val 6069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33167" y="2466826"/>
            <a:ext cx="23232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33167" y="2777877"/>
            <a:ext cx="232321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aplicaciones/pods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33167" y="2991148"/>
            <a:ext cx="232321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por namespace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3167" y="3204418"/>
            <a:ext cx="232321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de Kubernetes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53733" y="2314426"/>
            <a:ext cx="2582317" cy="1255663"/>
          </a:xfrm>
          <a:prstGeom prst="roundRect">
            <a:avLst>
              <a:gd name="adj" fmla="val 6069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06133" y="2466826"/>
            <a:ext cx="23230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SA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06133" y="2777877"/>
            <a:ext cx="23230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namespace tiene una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6133" y="2991148"/>
            <a:ext cx="23230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monta automaticamente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06133" y="3204418"/>
            <a:ext cx="23230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su uso directo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Practicas de Seguridad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44476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35001"/>
            <a:ext cx="3937099" cy="116234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menor privilegio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permisos wildcard (*)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Roles antes que ClusterRoles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Auditar permisos regularmente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2787848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3178373"/>
            <a:ext cx="3937099" cy="116234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SA por aplicacion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Deshabilitar automount si no se necesita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usar la SA default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Rotar tokens periodicamente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98950" y="1044476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98950" y="1435001"/>
            <a:ext cx="3937099" cy="116234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NO estan encriptados por defecto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Habilitar encryption at rest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Considerar Vault o Sealed Secrets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Limitar acceso via RBAC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98950" y="2787848"/>
            <a:ext cx="3937099" cy="596801"/>
          </a:xfrm>
          <a:prstGeom prst="roundRect">
            <a:avLst>
              <a:gd name="adj" fmla="val 8512"/>
            </a:avLst>
          </a:prstGeom>
          <a:solidFill>
            <a:srgbClr val="3A20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18000" y="2787848"/>
            <a:ext cx="0" cy="596801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001" y="2914799"/>
            <a:ext cx="371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en base64 NO es encriptacion. Cualquiera puede decodificarlos.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8950" y="3384649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8950" y="3775174"/>
            <a:ext cx="3937099" cy="84638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Policies para segmentar trafico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Security Standards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Escanear imagenes de contenedores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E652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11: Monitoreo y Logging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427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E65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676102"/>
            <a:ext cx="829066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 y diagnosticar el estado del cluster y las aplicaciones.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2067074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E65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2514749"/>
            <a:ext cx="8128099" cy="1453753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de Observabilidad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de Pods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Metricas basicas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y Grafana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del ecosistema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E652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Pilares de la Observabilidad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08025"/>
            <a:ext cx="8290661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observabilidad permite entender el estado interno del sistema a partir de sus salidas externas.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930747"/>
            <a:ext cx="2540050" cy="1927027"/>
          </a:xfrm>
          <a:prstGeom prst="roundRect">
            <a:avLst>
              <a:gd name="adj" fmla="val 5272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954560"/>
            <a:ext cx="2540050" cy="0"/>
          </a:xfrm>
          <a:prstGeom prst="line">
            <a:avLst/>
          </a:prstGeom>
          <a:noFill/>
          <a:ln w="47625">
            <a:solidFill>
              <a:srgbClr val="E652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1529" y="2232273"/>
            <a:ext cx="207289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1851" y="2679948"/>
            <a:ext cx="2072893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de eventos discretos con timestamp. Utiles para debugging y auditorias.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01901" y="1930747"/>
            <a:ext cx="2540198" cy="1927027"/>
          </a:xfrm>
          <a:prstGeom prst="roundRect">
            <a:avLst>
              <a:gd name="adj" fmla="val 5272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01901" y="1954560"/>
            <a:ext cx="2540198" cy="0"/>
          </a:xfrm>
          <a:prstGeom prst="line">
            <a:avLst/>
          </a:prstGeom>
          <a:noFill/>
          <a:ln w="47625">
            <a:solidFill>
              <a:srgbClr val="E652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5478" y="2232273"/>
            <a:ext cx="20730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Metricas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55802" y="2679948"/>
            <a:ext cx="2073045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numericos medidos en el tiempo. CPU, memoria, requests/segundo.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0" y="1930747"/>
            <a:ext cx="2540050" cy="1927027"/>
          </a:xfrm>
          <a:prstGeom prst="roundRect">
            <a:avLst>
              <a:gd name="adj" fmla="val 5272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96000" y="1954560"/>
            <a:ext cx="2540050" cy="0"/>
          </a:xfrm>
          <a:prstGeom prst="line">
            <a:avLst/>
          </a:prstGeom>
          <a:noFill/>
          <a:ln w="47625">
            <a:solidFill>
              <a:srgbClr val="E652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9578" y="2232273"/>
            <a:ext cx="207289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49901" y="2679948"/>
            <a:ext cx="2072893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de requests a traves de servicios distribuidos.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E652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81075"/>
            <a:ext cx="45470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65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Monitoreo y Alertas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320701"/>
            <a:ext cx="4547006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graduado de CNCF. </a:t>
            </a:r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de empresas</a:t>
            </a:r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 usan para observabilidad.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825823"/>
            <a:ext cx="4457849" cy="111085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</a:t>
            </a:r>
            <a:endParaRPr lang="en-US" sz="12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Recoleccion via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(scraping HTTP)</a:t>
            </a:r>
            <a:endParaRPr lang="en-US" sz="12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de consultas: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PromQL</a:t>
            </a:r>
            <a:endParaRPr lang="en-US" sz="12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 para notificaciones</a:t>
            </a:r>
            <a:endParaRPr lang="en-US" sz="12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discovery nativo para Kubernetes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3063627"/>
            <a:ext cx="45470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del Stack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3327053"/>
            <a:ext cx="4457849" cy="6411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Server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recolecta y almacena metricas</a:t>
            </a:r>
            <a:endParaRPr lang="en-US" sz="12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maneja alertas</a:t>
            </a:r>
            <a:endParaRPr lang="en-US" sz="12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Exporters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exponen metricas (node, kube-state)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83250" y="981075"/>
            <a:ext cx="3352800" cy="3971925"/>
          </a:xfrm>
          <a:prstGeom prst="roundRect">
            <a:avLst>
              <a:gd name="adj" fmla="val 3030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73750" y="1171575"/>
            <a:ext cx="30312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65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Metricas Clave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73750" y="1511201"/>
            <a:ext cx="303123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y Memoria por Pod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73750" y="1801862"/>
            <a:ext cx="303123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por segundo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73750" y="2092523"/>
            <a:ext cx="303123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 de respuesta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73750" y="2383185"/>
            <a:ext cx="303123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Pods/Nodes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73750" y="2673846"/>
            <a:ext cx="303123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HTTP (4xx, 5xx)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73750" y="2964507"/>
            <a:ext cx="303123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disco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73750" y="3255169"/>
            <a:ext cx="3031236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I/O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F46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44476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Visualizacion y Dashboards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463576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transforma metricas de Prometheus en visualizaciones interactivas y dashboards.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7950" y="1882676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esencial del 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 Prometheus Stack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junto con Prometheus y Alertmanager.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2339876"/>
            <a:ext cx="1889075" cy="1758404"/>
          </a:xfrm>
          <a:prstGeom prst="roundRect">
            <a:avLst>
              <a:gd name="adj" fmla="val 4333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7000" y="2339876"/>
            <a:ext cx="0" cy="1758404"/>
          </a:xfrm>
          <a:prstGeom prst="line">
            <a:avLst/>
          </a:prstGeom>
          <a:noFill/>
          <a:ln w="38100">
            <a:solidFill>
              <a:srgbClr val="F46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550" y="2530376"/>
            <a:ext cx="1499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6550" y="2841427"/>
            <a:ext cx="1499375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Plantillas predefinidas para Kubernetes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550" y="3481239"/>
            <a:ext cx="14993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Personalizables con PromQL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87526" y="2339876"/>
            <a:ext cx="1889224" cy="1758404"/>
          </a:xfrm>
          <a:prstGeom prst="roundRect">
            <a:avLst>
              <a:gd name="adj" fmla="val 4333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606576" y="2339876"/>
            <a:ext cx="0" cy="1758404"/>
          </a:xfrm>
          <a:prstGeom prst="line">
            <a:avLst/>
          </a:prstGeom>
          <a:noFill/>
          <a:ln w="38100">
            <a:solidFill>
              <a:srgbClr val="F46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126" y="2530376"/>
            <a:ext cx="14995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16126" y="2841427"/>
            <a:ext cx="14995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Prometheus, Loki, Tempo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16126" y="3267968"/>
            <a:ext cx="14995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Elasticsearch, InfluxDB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7250" y="2339876"/>
            <a:ext cx="1889075" cy="1758404"/>
          </a:xfrm>
          <a:prstGeom prst="roundRect">
            <a:avLst>
              <a:gd name="adj" fmla="val 4333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86300" y="2339876"/>
            <a:ext cx="0" cy="1758404"/>
          </a:xfrm>
          <a:prstGeom prst="line">
            <a:avLst/>
          </a:prstGeom>
          <a:noFill/>
          <a:ln w="38100">
            <a:solidFill>
              <a:srgbClr val="F46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5850" y="2530376"/>
            <a:ext cx="1499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5850" y="2841427"/>
            <a:ext cx="14993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visuales de alertas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5850" y="3267968"/>
            <a:ext cx="14993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 con Slack, email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46825" y="2339876"/>
            <a:ext cx="1889224" cy="1758404"/>
          </a:xfrm>
          <a:prstGeom prst="roundRect">
            <a:avLst>
              <a:gd name="adj" fmla="val 4333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765875" y="2339876"/>
            <a:ext cx="0" cy="1758404"/>
          </a:xfrm>
          <a:prstGeom prst="line">
            <a:avLst/>
          </a:prstGeom>
          <a:noFill/>
          <a:ln w="38100">
            <a:solidFill>
              <a:srgbClr val="F46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5425" y="2530376"/>
            <a:ext cx="14995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75425" y="2841427"/>
            <a:ext cx="14995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ad-hoc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75425" y="3054697"/>
            <a:ext cx="14995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Correlacion de datos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E652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de Observabilidad Moderno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44476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recomendada para monitoreo completo de Kubernetes: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501676"/>
            <a:ext cx="1917650" cy="801886"/>
          </a:xfrm>
          <a:prstGeom prst="roundRect">
            <a:avLst>
              <a:gd name="adj" fmla="val 9503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520726"/>
            <a:ext cx="1917650" cy="0"/>
          </a:xfrm>
          <a:prstGeom prst="line">
            <a:avLst/>
          </a:prstGeom>
          <a:noFill/>
          <a:ln w="38100">
            <a:solidFill>
              <a:srgbClr val="E652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222" y="1692176"/>
            <a:ext cx="16451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222" y="1955602"/>
            <a:ext cx="16451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Recoleccion de metricas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405063"/>
            <a:ext cx="1917650" cy="997446"/>
          </a:xfrm>
          <a:prstGeom prst="roundRect">
            <a:avLst>
              <a:gd name="adj" fmla="val 7640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7950" y="2424113"/>
            <a:ext cx="1917650" cy="0"/>
          </a:xfrm>
          <a:prstGeom prst="line">
            <a:avLst/>
          </a:prstGeom>
          <a:noFill/>
          <a:ln w="38100">
            <a:solidFill>
              <a:srgbClr val="E652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222" y="2595563"/>
            <a:ext cx="16451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Thanos / Mimir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222" y="2858988"/>
            <a:ext cx="164510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largo plazo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8774" y="3504009"/>
            <a:ext cx="19560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001" y="1501676"/>
            <a:ext cx="1917799" cy="801886"/>
          </a:xfrm>
          <a:prstGeom prst="roundRect">
            <a:avLst>
              <a:gd name="adj" fmla="val 9503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78001" y="1520726"/>
            <a:ext cx="1917799" cy="0"/>
          </a:xfrm>
          <a:prstGeom prst="line">
            <a:avLst/>
          </a:prstGeom>
          <a:noFill/>
          <a:ln w="38100">
            <a:solidFill>
              <a:srgbClr val="F46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4271" y="1692176"/>
            <a:ext cx="16452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Bit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14271" y="1955602"/>
            <a:ext cx="16452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Recolector de logs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78001" y="2405063"/>
            <a:ext cx="1917799" cy="801886"/>
          </a:xfrm>
          <a:prstGeom prst="roundRect">
            <a:avLst>
              <a:gd name="adj" fmla="val 9503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78001" y="2424113"/>
            <a:ext cx="1917799" cy="0"/>
          </a:xfrm>
          <a:prstGeom prst="line">
            <a:avLst/>
          </a:prstGeom>
          <a:noFill/>
          <a:ln w="38100">
            <a:solidFill>
              <a:srgbClr val="F46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4271" y="2595563"/>
            <a:ext cx="16452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14271" y="2858988"/>
            <a:ext cx="16452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de logs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58823" y="3308449"/>
            <a:ext cx="1956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48200" y="1501676"/>
            <a:ext cx="1917650" cy="801886"/>
          </a:xfrm>
          <a:prstGeom prst="roundRect">
            <a:avLst>
              <a:gd name="adj" fmla="val 9503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48200" y="1520726"/>
            <a:ext cx="1917650" cy="0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4471" y="1692176"/>
            <a:ext cx="16451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84471" y="1955602"/>
            <a:ext cx="16451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Instrumentacion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48200" y="2405063"/>
            <a:ext cx="1917650" cy="801886"/>
          </a:xfrm>
          <a:prstGeom prst="roundRect">
            <a:avLst>
              <a:gd name="adj" fmla="val 9503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48200" y="2424113"/>
            <a:ext cx="1917650" cy="0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4471" y="2595563"/>
            <a:ext cx="16451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/ Jaeger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84471" y="2858988"/>
            <a:ext cx="16451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distribuido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29023" y="3308449"/>
            <a:ext cx="19560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8250" y="1501676"/>
            <a:ext cx="1917799" cy="1612850"/>
          </a:xfrm>
          <a:prstGeom prst="roundRect">
            <a:avLst>
              <a:gd name="adj" fmla="val 4725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718250" y="1520726"/>
            <a:ext cx="1917799" cy="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4520" y="1692176"/>
            <a:ext cx="16452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4520" y="1955602"/>
            <a:ext cx="164525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Visualizacion unificada de metricas, logs y traces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99072" y="3216027"/>
            <a:ext cx="1956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12: Kubernetes en la Nube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427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676102"/>
            <a:ext cx="829066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las plataformas de Kubernetes administrado usadas en la industria.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2067074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2514749"/>
            <a:ext cx="8128099" cy="1453753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administrado vs autogestionado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Kubernetes Engine (GKE)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Elastic Kubernetes Service (EKS)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Kubernetes Service (AKS)</a:t>
            </a:r>
            <a:endParaRPr lang="en-US" sz="1400" dirty="0"/>
          </a:p>
          <a:p>
            <a:pPr algn="l" marL="158750" indent="-1587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 y consideraciones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 vs Autogestionado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81075"/>
            <a:ext cx="3905250" cy="3971925"/>
          </a:xfrm>
          <a:prstGeom prst="roundRect">
            <a:avLst>
              <a:gd name="adj" fmla="val 2602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7877" y="1234976"/>
            <a:ext cx="34653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Administrado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1851" y="1692176"/>
            <a:ext cx="3397448" cy="208404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Plane gestionado por el proveedor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Actualizaciones automaticas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Alta disponibilidad incluida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Integracion con servicios cloud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Soporte del proveedor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Menos control sobre configuracion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Vendor lock-in potencial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Costos por cluster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30651" y="981075"/>
            <a:ext cx="3905399" cy="3971925"/>
          </a:xfrm>
          <a:prstGeom prst="roundRect">
            <a:avLst>
              <a:gd name="adj" fmla="val 2602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0576" y="1234976"/>
            <a:ext cx="34655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Autogestionado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4552" y="1692176"/>
            <a:ext cx="3397597" cy="208404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total de la configuracion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 costos de gestion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Flexibilidad completa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Multi-cloud sin lock-in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Requiere expertise en K8s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Responsable de actualizaciones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Configurar HA manualmente</a:t>
            </a:r>
            <a:endParaRPr lang="en-US" sz="1200" dirty="0"/>
          </a:p>
          <a:p>
            <a:pPr algn="l" marL="114300" indent="-114300">
              <a:lnSpc>
                <a:spcPts val="1440"/>
              </a:lnSpc>
              <a:spcAft>
                <a:spcPts val="700"/>
              </a:spcAft>
              <a:buSzPct val="100000"/>
              <a:buChar char="•"/>
            </a:pPr>
            <a:pPr algn="l" indent="0" marL="0">
              <a:lnSpc>
                <a:spcPts val="144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Mayor carga operacional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 de Kubernetes Administrado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981075"/>
            <a:ext cx="2667000" cy="3971925"/>
          </a:xfrm>
          <a:prstGeom prst="roundRect">
            <a:avLst>
              <a:gd name="adj" fmla="val 3810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004888"/>
            <a:ext cx="2667000" cy="0"/>
          </a:xfrm>
          <a:prstGeom prst="line">
            <a:avLst/>
          </a:prstGeom>
          <a:noFill/>
          <a:ln w="47625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9200"/>
            <a:ext cx="23317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GKE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584275"/>
            <a:ext cx="233172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Kubernetes Engine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1867346"/>
            <a:ext cx="233172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Creadores de K8s. Mas funciones automatizadas.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" y="2331988"/>
            <a:ext cx="2286000" cy="243051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Autopilot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GKE AI Ops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gratis (zonal)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channels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para: nuevos en K8s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38500" y="981075"/>
            <a:ext cx="2667000" cy="3971925"/>
          </a:xfrm>
          <a:prstGeom prst="roundRect">
            <a:avLst>
              <a:gd name="adj" fmla="val 3810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38500" y="1004888"/>
            <a:ext cx="2667000" cy="0"/>
          </a:xfrm>
          <a:prstGeom prst="line">
            <a:avLst/>
          </a:prstGeom>
          <a:noFill/>
          <a:ln w="47625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6140" y="1219200"/>
            <a:ext cx="23317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1584275"/>
            <a:ext cx="233172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Kubernetes Service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867346"/>
            <a:ext cx="233172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mas usado segun CNCF. Ecosistema AWS.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988"/>
            <a:ext cx="2286000" cy="243051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Anywhere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(hibrido)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Fargate (serverless)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$72/mes control plane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configuracion manual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para: usuarios AWS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96000" y="981075"/>
            <a:ext cx="2667000" cy="3971925"/>
          </a:xfrm>
          <a:prstGeom prst="roundRect">
            <a:avLst>
              <a:gd name="adj" fmla="val 3810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96000" y="1004888"/>
            <a:ext cx="2667000" cy="0"/>
          </a:xfrm>
          <a:prstGeom prst="line">
            <a:avLst/>
          </a:prstGeom>
          <a:noFill/>
          <a:ln w="47625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219200"/>
            <a:ext cx="23317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86500" y="1584275"/>
            <a:ext cx="233172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Kubernetes Service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6500" y="1867346"/>
            <a:ext cx="233172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gratis. Integracion Microsoft.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6500" y="2331988"/>
            <a:ext cx="2286000" cy="243051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gratis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AD integration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 nativo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 High certified</a:t>
            </a:r>
            <a:endParaRPr lang="en-US" sz="10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para: empresas Microsoft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Comparativa: GKE vs EKS vs AKS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Elegir tu Plataforma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81075"/>
            <a:ext cx="82906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Decision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301651"/>
            <a:ext cx="8128099" cy="121860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44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existente: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 ya usas AWS, Azure o GCP, elige su servicio K8s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tiene control plane gratis, 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cobra $72/mes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del equipo: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GKE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el mas automatizado para equipos nuevos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gobierno (FedRAMP High)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Multi-cloud: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Considera herramientas como Rancher o usar Terraform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647206"/>
            <a:ext cx="82906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 General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2967782"/>
            <a:ext cx="8128099" cy="70068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44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GKE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Mejor experiencia out-of-the-box y automatizacion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Mejor integracion si ya estas en AWS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</a:t>
            </a:r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Mejor costo y si usas servicios Microsoft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3795415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i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son production-ready. La eleccion depende de tu contexto.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- Nivel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81075"/>
            <a:ext cx="2540050" cy="2717899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000125"/>
            <a:ext cx="2540050" cy="0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209675"/>
            <a:ext cx="22022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8450" y="1571625"/>
            <a:ext cx="2159050" cy="15240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controla acceso al cluster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+ RoleBindings = permisos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Accounts para pods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menor privilegio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necesitan proteccion extra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901" y="981075"/>
            <a:ext cx="2540198" cy="2717899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01901" y="1000125"/>
            <a:ext cx="2540198" cy="0"/>
          </a:xfrm>
          <a:prstGeom prst="line">
            <a:avLst/>
          </a:prstGeom>
          <a:noFill/>
          <a:ln w="38100">
            <a:solidFill>
              <a:srgbClr val="E65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2401" y="1209675"/>
            <a:ext cx="2202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65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92401" y="1571625"/>
            <a:ext cx="2159198" cy="13716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pilares: logs, metricas, traces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recolecta metricas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visualiza dashboards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 notifica problemas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 Prometheus Stack todo-en-uno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0" y="981075"/>
            <a:ext cx="2540050" cy="2717899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96000" y="1000125"/>
            <a:ext cx="2540050" cy="0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0" y="1209675"/>
            <a:ext cx="22022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86500" y="1571625"/>
            <a:ext cx="2159050" cy="10668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GKE: mas automatizado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EKS: ecosistema AWS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AKS: control plane gratis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Eleccion segun contexto</a:t>
            </a:r>
            <a:endParaRPr lang="en-US" sz="1100" dirty="0"/>
          </a:p>
          <a:p>
            <a:pPr algn="l" marL="95250" indent="-9525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son production-ready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6669" y="4397425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el Proyecto Final!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Nivel 4: Operación y Buenas Prácticas</dc:title>
  <dc:subject>Kubernetes - Seguridad, Monitoreo y Cloud</dc:subject>
  <dc:creator>KCD Mexico</dc:creator>
  <cp:lastModifiedBy>KCD Mexico</cp:lastModifiedBy>
  <cp:revision>1</cp:revision>
  <dcterms:created xsi:type="dcterms:W3CDTF">2026-02-02T09:00:17Z</dcterms:created>
  <dcterms:modified xsi:type="dcterms:W3CDTF">2026-02-02T09:00:17Z</dcterms:modified>
</cp:coreProperties>
</file>