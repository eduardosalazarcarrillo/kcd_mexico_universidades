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745397" y="1681163"/>
            <a:ext cx="5653207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Nivel 1: Fundamentos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348733" y="2490788"/>
            <a:ext cx="644638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2400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Computing, Contenedores y Kubernetes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844766" y="3224213"/>
            <a:ext cx="345446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KCD Mexico - Programa Universitario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20346" y="4610100"/>
            <a:ext cx="18520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Community Days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152227"/>
          </a:xfrm>
          <a:prstGeom prst="rect">
            <a:avLst/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Modulo 1: Computacion en la Nube y Contenedores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688777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400" dirty="0">
                <a:solidFill>
                  <a:srgbClr val="AEC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Objetivo: Comprender el contexto y la necesidad de Kubernetes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7950" y="1533227"/>
            <a:ext cx="82906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Temas a Cubrir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7950" y="2110978"/>
            <a:ext cx="8128099" cy="2234357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lnSpc>
                <a:spcPts val="288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Evolucion de la infraestructura</a:t>
            </a:r>
            <a:endParaRPr lang="en-US" sz="1600" dirty="0"/>
          </a:p>
          <a:p>
            <a:pPr algn="l" marL="158750" indent="-158750">
              <a:lnSpc>
                <a:spcPts val="288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Computing: IaaS, PaaS, SaaS</a:t>
            </a:r>
            <a:endParaRPr lang="en-US" sz="1600" dirty="0"/>
          </a:p>
          <a:p>
            <a:pPr algn="l" marL="158750" indent="-158750">
              <a:lnSpc>
                <a:spcPts val="288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Problemas que resuelven los contenedores</a:t>
            </a:r>
            <a:endParaRPr lang="en-US" sz="1600" dirty="0"/>
          </a:p>
          <a:p>
            <a:pPr algn="l" marL="158750" indent="-158750">
              <a:lnSpc>
                <a:spcPts val="288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Introduccion a Docker</a:t>
            </a:r>
            <a:endParaRPr lang="en-US" sz="1600" dirty="0"/>
          </a:p>
          <a:p>
            <a:pPr algn="l" marL="158750" indent="-158750">
              <a:lnSpc>
                <a:spcPts val="288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Contenedores vs Maquinas Virtuales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Evolucion de la Infraestructura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1050875"/>
            <a:ext cx="2167533" cy="3775174"/>
          </a:xfrm>
          <a:prstGeom prst="roundRect">
            <a:avLst>
              <a:gd name="adj" fmla="val 468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07950" y="1079450"/>
            <a:ext cx="2167533" cy="0"/>
          </a:xfrm>
          <a:prstGeom prst="line">
            <a:avLst/>
          </a:prstGeom>
          <a:noFill/>
          <a:ln w="57150">
            <a:solidFill>
              <a:srgbClr val="326C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0585" y="1298525"/>
            <a:ext cx="182226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Bare Metal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0585" y="1663601"/>
            <a:ext cx="18222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Servidores fisicos dedicados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98450" y="2108002"/>
            <a:ext cx="1786533" cy="4572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buSzPct val="100000"/>
              <a:buChar char="•"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app = 1 servidor</a:t>
            </a:r>
            <a:endParaRPr lang="en-US" sz="1100" dirty="0"/>
          </a:p>
          <a:p>
            <a:pPr algn="l" marL="95250" indent="-95250">
              <a:buSzPct val="100000"/>
              <a:buChar char="•"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Recursos desperdiciados</a:t>
            </a:r>
            <a:endParaRPr lang="en-US" sz="1100" dirty="0"/>
          </a:p>
          <a:p>
            <a:pPr algn="l" marL="95250" indent="-95250">
              <a:buSzPct val="100000"/>
              <a:buChar char="•"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Escalado lento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29384" y="2762250"/>
            <a:ext cx="31089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488085" y="1050875"/>
            <a:ext cx="2167682" cy="3775174"/>
          </a:xfrm>
          <a:prstGeom prst="roundRect">
            <a:avLst>
              <a:gd name="adj" fmla="val 468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488085" y="1079450"/>
            <a:ext cx="2167682" cy="0"/>
          </a:xfrm>
          <a:prstGeom prst="line">
            <a:avLst/>
          </a:prstGeom>
          <a:noFill/>
          <a:ln w="57150">
            <a:solidFill>
              <a:srgbClr val="326C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60718" y="1298525"/>
            <a:ext cx="182241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Virtualizacion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60718" y="1663601"/>
            <a:ext cx="182241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Multiples VMs por servidor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78585" y="2108002"/>
            <a:ext cx="1786682" cy="4572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buSzPct val="100000"/>
              <a:buChar char="•"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 uso de recursos</a:t>
            </a:r>
            <a:endParaRPr lang="en-US" sz="1100" dirty="0"/>
          </a:p>
          <a:p>
            <a:pPr algn="l" marL="95250" indent="-95250">
              <a:buSzPct val="100000"/>
              <a:buChar char="•"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Aislamiento por VM</a:t>
            </a:r>
            <a:endParaRPr lang="en-US" sz="1100" dirty="0"/>
          </a:p>
          <a:p>
            <a:pPr algn="l" marL="95250" indent="-95250">
              <a:buSzPct val="100000"/>
              <a:buChar char="•"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Overhead de SO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09667" y="2762250"/>
            <a:ext cx="31089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468368" y="1050875"/>
            <a:ext cx="2167682" cy="3775174"/>
          </a:xfrm>
          <a:prstGeom prst="roundRect">
            <a:avLst>
              <a:gd name="adj" fmla="val 468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468368" y="1079450"/>
            <a:ext cx="2167682" cy="0"/>
          </a:xfrm>
          <a:prstGeom prst="line">
            <a:avLst/>
          </a:prstGeom>
          <a:noFill/>
          <a:ln w="57150">
            <a:solidFill>
              <a:srgbClr val="326C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41001" y="1298525"/>
            <a:ext cx="182241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Contenedores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41001" y="1663601"/>
            <a:ext cx="182241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 empaquetadas ligeras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58868" y="2108002"/>
            <a:ext cx="1786682" cy="4572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buSzPct val="100000"/>
              <a:buChar char="•"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Arranque en segundos</a:t>
            </a:r>
            <a:endParaRPr lang="en-US" sz="1100" dirty="0"/>
          </a:p>
          <a:p>
            <a:pPr algn="l" marL="95250" indent="-95250">
              <a:buSzPct val="100000"/>
              <a:buChar char="•"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Portabilidad total</a:t>
            </a:r>
            <a:endParaRPr lang="en-US" sz="1100" dirty="0"/>
          </a:p>
          <a:p>
            <a:pPr algn="l" marL="95250" indent="-95250">
              <a:buSzPct val="100000"/>
              <a:buChar char="•"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Eficiencia maxima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de Cloud Computing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987326"/>
            <a:ext cx="2582317" cy="3902273"/>
          </a:xfrm>
          <a:prstGeom prst="roundRect">
            <a:avLst>
              <a:gd name="adj" fmla="val 3934"/>
            </a:avLst>
          </a:prstGeom>
          <a:solidFill>
            <a:srgbClr val="E8F6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36525" y="987326"/>
            <a:ext cx="0" cy="3902273"/>
          </a:xfrm>
          <a:prstGeom prst="line">
            <a:avLst/>
          </a:prstGeom>
          <a:noFill/>
          <a:ln w="57150">
            <a:solidFill>
              <a:srgbClr val="1ABC9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5600" y="1177826"/>
            <a:ext cx="2187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IaaS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55600" y="1546027"/>
            <a:ext cx="2187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as a Service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55600" y="1825377"/>
            <a:ext cx="2144167" cy="241042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buSzPct val="100000"/>
              <a:buChar char="•"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gestionas: SO, apps, datos</a:t>
            </a:r>
            <a:endParaRPr lang="en-US" sz="1000" dirty="0"/>
          </a:p>
          <a:p>
            <a:pPr algn="l" marL="95250" indent="-95250">
              <a:buSzPct val="100000"/>
              <a:buChar char="•"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Proveedor: hardware, red, storage</a:t>
            </a:r>
            <a:endParaRPr lang="en-US" sz="1000" dirty="0"/>
          </a:p>
          <a:p>
            <a:pPr algn="l" marL="95250" indent="-95250">
              <a:buSzPct val="100000"/>
              <a:buChar char="•"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Maximo control y flexibilidad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55600" y="4362748"/>
            <a:ext cx="2144167" cy="336352"/>
          </a:xfrm>
          <a:prstGeom prst="roundRect">
            <a:avLst>
              <a:gd name="adj" fmla="val 15103"/>
            </a:avLst>
          </a:prstGeom>
          <a:solidFill>
            <a:srgbClr val="F8F9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57101" y="4464248"/>
            <a:ext cx="19799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EC2, Azure VM, GCP Compute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80767" y="987326"/>
            <a:ext cx="2582466" cy="3902273"/>
          </a:xfrm>
          <a:prstGeom prst="roundRect">
            <a:avLst>
              <a:gd name="adj" fmla="val 3934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309342" y="987326"/>
            <a:ext cx="0" cy="3902273"/>
          </a:xfrm>
          <a:prstGeom prst="line">
            <a:avLst/>
          </a:prstGeom>
          <a:noFill/>
          <a:ln w="57150">
            <a:solidFill>
              <a:srgbClr val="3498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8417" y="1177826"/>
            <a:ext cx="218720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PaaS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28417" y="1546027"/>
            <a:ext cx="21872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as a Service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28417" y="1825377"/>
            <a:ext cx="2144316" cy="227707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buSzPct val="100000"/>
              <a:buChar char="•"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gestionas: apps y datos</a:t>
            </a:r>
            <a:endParaRPr lang="en-US" sz="1000" dirty="0"/>
          </a:p>
          <a:p>
            <a:pPr algn="l" marL="95250" indent="-95250">
              <a:buSzPct val="100000"/>
              <a:buChar char="•"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Proveedor: SO, runtime, middleware</a:t>
            </a:r>
            <a:endParaRPr lang="en-US" sz="1000" dirty="0"/>
          </a:p>
          <a:p>
            <a:pPr algn="l" marL="95250" indent="-95250">
              <a:buSzPct val="100000"/>
              <a:buChar char="•"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Enfocate en codigo, no infra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28417" y="4229398"/>
            <a:ext cx="2144316" cy="469702"/>
          </a:xfrm>
          <a:prstGeom prst="roundRect">
            <a:avLst>
              <a:gd name="adj" fmla="val 10815"/>
            </a:avLst>
          </a:prstGeom>
          <a:solidFill>
            <a:srgbClr val="F8F9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629918" y="4330898"/>
            <a:ext cx="19801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Heroku, Google App Engine, Azure App Service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053733" y="987326"/>
            <a:ext cx="2582317" cy="3902273"/>
          </a:xfrm>
          <a:prstGeom prst="roundRect">
            <a:avLst>
              <a:gd name="adj" fmla="val 3934"/>
            </a:avLst>
          </a:prstGeom>
          <a:solidFill>
            <a:srgbClr val="F5EE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082308" y="987326"/>
            <a:ext cx="0" cy="3902273"/>
          </a:xfrm>
          <a:prstGeom prst="line">
            <a:avLst/>
          </a:prstGeom>
          <a:noFill/>
          <a:ln w="57150">
            <a:solidFill>
              <a:srgbClr val="9B59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1383" y="1177826"/>
            <a:ext cx="2187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301383" y="1546027"/>
            <a:ext cx="2187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as a Service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1383" y="1825377"/>
            <a:ext cx="2144167" cy="241042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buSzPct val="100000"/>
              <a:buChar char="•"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gestionas: solo tus datos</a:t>
            </a:r>
            <a:endParaRPr lang="en-US" sz="1000" dirty="0"/>
          </a:p>
          <a:p>
            <a:pPr algn="l" marL="95250" indent="-95250">
              <a:buSzPct val="100000"/>
              <a:buChar char="•"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Proveedor: toda la aplicacion</a:t>
            </a:r>
            <a:endParaRPr lang="en-US" sz="1000" dirty="0"/>
          </a:p>
          <a:p>
            <a:pPr algn="l" marL="95250" indent="-95250">
              <a:buSzPct val="100000"/>
              <a:buChar char="•"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Listo para usar via web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01383" y="4362748"/>
            <a:ext cx="2144167" cy="336352"/>
          </a:xfrm>
          <a:prstGeom prst="roundRect">
            <a:avLst>
              <a:gd name="adj" fmla="val 15103"/>
            </a:avLst>
          </a:prstGeom>
          <a:solidFill>
            <a:srgbClr val="F8F9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402884" y="4464248"/>
            <a:ext cx="19799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Gmail, Salesforce, Microsoft 365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2865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52400"/>
            <a:ext cx="82906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Contenedores vs Maquinas Virtuales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68898" y="819150"/>
            <a:ext cx="398335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Maquinas Virtuales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7950" y="1155650"/>
            <a:ext cx="3905250" cy="285750"/>
          </a:xfrm>
          <a:prstGeom prst="roundRect">
            <a:avLst>
              <a:gd name="adj" fmla="val 13333"/>
            </a:avLst>
          </a:prstGeom>
          <a:solidFill>
            <a:srgbClr val="5DAD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6622" y="1231850"/>
            <a:ext cx="38279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7950" y="1466701"/>
            <a:ext cx="3905250" cy="285750"/>
          </a:xfrm>
          <a:prstGeom prst="roundRect">
            <a:avLst>
              <a:gd name="adj" fmla="val 13333"/>
            </a:avLst>
          </a:prstGeom>
          <a:solidFill>
            <a:srgbClr val="48C9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46622" y="1542901"/>
            <a:ext cx="38279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Bins/Libs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7950" y="1777752"/>
            <a:ext cx="3905250" cy="285750"/>
          </a:xfrm>
          <a:prstGeom prst="roundRect">
            <a:avLst>
              <a:gd name="adj" fmla="val 13333"/>
            </a:avLst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46622" y="1853952"/>
            <a:ext cx="38279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Guest OS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7950" y="2088803"/>
            <a:ext cx="3905250" cy="285750"/>
          </a:xfrm>
          <a:prstGeom prst="roundRect">
            <a:avLst>
              <a:gd name="adj" fmla="val 13333"/>
            </a:avLst>
          </a:prstGeom>
          <a:solidFill>
            <a:srgbClr val="5DAD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46622" y="2165003"/>
            <a:ext cx="38279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B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7950" y="2399854"/>
            <a:ext cx="3905250" cy="285750"/>
          </a:xfrm>
          <a:prstGeom prst="roundRect">
            <a:avLst>
              <a:gd name="adj" fmla="val 13333"/>
            </a:avLst>
          </a:prstGeom>
          <a:solidFill>
            <a:srgbClr val="48C9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46622" y="2476054"/>
            <a:ext cx="38279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Bins/Libs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7950" y="2710904"/>
            <a:ext cx="3905250" cy="285750"/>
          </a:xfrm>
          <a:prstGeom prst="roundRect">
            <a:avLst>
              <a:gd name="adj" fmla="val 13333"/>
            </a:avLst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46622" y="2787104"/>
            <a:ext cx="38279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Guest OS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7950" y="3021955"/>
            <a:ext cx="3905250" cy="285750"/>
          </a:xfrm>
          <a:prstGeom prst="roundRect">
            <a:avLst>
              <a:gd name="adj" fmla="val 13333"/>
            </a:avLst>
          </a:prstGeom>
          <a:solidFill>
            <a:srgbClr val="9B59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46622" y="3098155"/>
            <a:ext cx="38279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Hypervisor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7950" y="3333006"/>
            <a:ext cx="3905250" cy="285750"/>
          </a:xfrm>
          <a:prstGeom prst="roundRect">
            <a:avLst>
              <a:gd name="adj" fmla="val 13333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46622" y="3409206"/>
            <a:ext cx="38279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OS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7950" y="3644057"/>
            <a:ext cx="3905250" cy="285750"/>
          </a:xfrm>
          <a:prstGeom prst="roundRect">
            <a:avLst>
              <a:gd name="adj" fmla="val 13333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46622" y="3720257"/>
            <a:ext cx="38279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Infraestructura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7950" y="4349948"/>
            <a:ext cx="3905250" cy="603052"/>
          </a:xfrm>
          <a:prstGeom prst="roundRect">
            <a:avLst>
              <a:gd name="adj" fmla="val 8424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09451" y="4451449"/>
            <a:ext cx="3702248" cy="40005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buSzPct val="100000"/>
              <a:buChar char="•"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completo por VM</a:t>
            </a:r>
            <a:endParaRPr lang="en-US" sz="900" dirty="0"/>
          </a:p>
          <a:p>
            <a:pPr algn="l" marL="95250" indent="-95250">
              <a:buSzPct val="100000"/>
              <a:buChar char="•"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Aislamiento total</a:t>
            </a:r>
            <a:endParaRPr lang="en-US" sz="900" dirty="0"/>
          </a:p>
          <a:p>
            <a:pPr algn="l" marL="95250" indent="-95250">
              <a:buSzPct val="100000"/>
              <a:buChar char="•"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Arranque: minutos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691597" y="819150"/>
            <a:ext cx="39835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Contenedores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30651" y="1155650"/>
            <a:ext cx="3905399" cy="285750"/>
          </a:xfrm>
          <a:prstGeom prst="roundRect">
            <a:avLst>
              <a:gd name="adj" fmla="val 13333"/>
            </a:avLst>
          </a:prstGeom>
          <a:solidFill>
            <a:srgbClr val="5DAD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769321" y="1231850"/>
            <a:ext cx="38280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30651" y="1466701"/>
            <a:ext cx="3905399" cy="285750"/>
          </a:xfrm>
          <a:prstGeom prst="roundRect">
            <a:avLst>
              <a:gd name="adj" fmla="val 13333"/>
            </a:avLst>
          </a:prstGeom>
          <a:solidFill>
            <a:srgbClr val="48C9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69321" y="1542901"/>
            <a:ext cx="38280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Bins/Libs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30651" y="1777752"/>
            <a:ext cx="3905399" cy="285750"/>
          </a:xfrm>
          <a:prstGeom prst="roundRect">
            <a:avLst>
              <a:gd name="adj" fmla="val 13333"/>
            </a:avLst>
          </a:prstGeom>
          <a:solidFill>
            <a:srgbClr val="5DAD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769321" y="1853952"/>
            <a:ext cx="38280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B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30651" y="2088803"/>
            <a:ext cx="3905399" cy="285750"/>
          </a:xfrm>
          <a:prstGeom prst="roundRect">
            <a:avLst>
              <a:gd name="adj" fmla="val 13333"/>
            </a:avLst>
          </a:prstGeom>
          <a:solidFill>
            <a:srgbClr val="48C9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769321" y="2165003"/>
            <a:ext cx="38280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Bins/Libs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30651" y="2399854"/>
            <a:ext cx="3905399" cy="285750"/>
          </a:xfrm>
          <a:prstGeom prst="roundRect">
            <a:avLst>
              <a:gd name="adj" fmla="val 13333"/>
            </a:avLst>
          </a:prstGeom>
          <a:solidFill>
            <a:srgbClr val="5DAD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769321" y="2476054"/>
            <a:ext cx="38280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C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30651" y="2710904"/>
            <a:ext cx="3905399" cy="285750"/>
          </a:xfrm>
          <a:prstGeom prst="roundRect">
            <a:avLst>
              <a:gd name="adj" fmla="val 13333"/>
            </a:avLst>
          </a:prstGeom>
          <a:solidFill>
            <a:srgbClr val="48C9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769321" y="2787104"/>
            <a:ext cx="38280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Bins/Libs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30651" y="3021955"/>
            <a:ext cx="3905399" cy="285750"/>
          </a:xfrm>
          <a:prstGeom prst="roundRect">
            <a:avLst>
              <a:gd name="adj" fmla="val 13333"/>
            </a:avLst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769321" y="3098155"/>
            <a:ext cx="38280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Runtime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30651" y="3333006"/>
            <a:ext cx="3905399" cy="285750"/>
          </a:xfrm>
          <a:prstGeom prst="roundRect">
            <a:avLst>
              <a:gd name="adj" fmla="val 13333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769321" y="3409206"/>
            <a:ext cx="38280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OS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730651" y="3644057"/>
            <a:ext cx="3905399" cy="285750"/>
          </a:xfrm>
          <a:prstGeom prst="roundRect">
            <a:avLst>
              <a:gd name="adj" fmla="val 13333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4769321" y="3720257"/>
            <a:ext cx="38280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Infraestructura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730651" y="4349948"/>
            <a:ext cx="3905399" cy="603052"/>
          </a:xfrm>
          <a:prstGeom prst="roundRect">
            <a:avLst>
              <a:gd name="adj" fmla="val 8424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4832152" y="4451449"/>
            <a:ext cx="3702397" cy="40005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buSzPct val="100000"/>
              <a:buChar char="•"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Comparten kernel</a:t>
            </a:r>
            <a:endParaRPr lang="en-US" sz="900" dirty="0"/>
          </a:p>
          <a:p>
            <a:pPr algn="l" marL="95250" indent="-95250">
              <a:buSzPct val="100000"/>
              <a:buChar char="•"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Aislamiento proceso</a:t>
            </a:r>
            <a:endParaRPr lang="en-US" sz="900" dirty="0"/>
          </a:p>
          <a:p>
            <a:pPr algn="l" marL="95250" indent="-95250">
              <a:buSzPct val="100000"/>
              <a:buChar char="•"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Arranque: segundos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Introduccion a Docker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987326"/>
            <a:ext cx="454700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000" b="1" dirty="0">
                <a:solidFill>
                  <a:srgbClr val="0DB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es Docker?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7950" y="1473101"/>
            <a:ext cx="4547006" cy="74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1500"/>
              </a:spcAft>
              <a:buNone/>
            </a:pPr>
            <a:r>
              <a:rPr lang="en-US" sz="13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para desarrollar, enviar y ejecutar aplicaciones en contenedores. Empaqueta tu app con todas sus dependencias.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7950" y="2406104"/>
            <a:ext cx="1401217" cy="1339155"/>
          </a:xfrm>
          <a:prstGeom prst="roundRect">
            <a:avLst>
              <a:gd name="adj" fmla="val 5690"/>
            </a:avLst>
          </a:prstGeom>
          <a:solidFill>
            <a:srgbClr val="E8F8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07950" y="2425154"/>
            <a:ext cx="1401217" cy="0"/>
          </a:xfrm>
          <a:prstGeom prst="line">
            <a:avLst/>
          </a:prstGeom>
          <a:noFill/>
          <a:ln w="38100">
            <a:solidFill>
              <a:srgbClr val="0DB7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0350" y="2596604"/>
            <a:ext cx="111834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DB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0350" y="2831455"/>
            <a:ext cx="1118345" cy="761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Plantilla de solo lectura con instrucciones para crear contenedor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36118" y="2406104"/>
            <a:ext cx="1401366" cy="1339155"/>
          </a:xfrm>
          <a:prstGeom prst="roundRect">
            <a:avLst>
              <a:gd name="adj" fmla="val 5690"/>
            </a:avLst>
          </a:prstGeom>
          <a:solidFill>
            <a:srgbClr val="E8F8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2036118" y="2425154"/>
            <a:ext cx="1401366" cy="0"/>
          </a:xfrm>
          <a:prstGeom prst="line">
            <a:avLst/>
          </a:prstGeom>
          <a:noFill/>
          <a:ln w="38100">
            <a:solidFill>
              <a:srgbClr val="0DB7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88518" y="2596604"/>
            <a:ext cx="111849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DB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Contenedor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88518" y="2831455"/>
            <a:ext cx="1118497" cy="571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Instancia ejecutable de una imagen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64434" y="2406104"/>
            <a:ext cx="1401366" cy="1339155"/>
          </a:xfrm>
          <a:prstGeom prst="roundRect">
            <a:avLst>
              <a:gd name="adj" fmla="val 5690"/>
            </a:avLst>
          </a:prstGeom>
          <a:solidFill>
            <a:srgbClr val="E8F8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564434" y="2425154"/>
            <a:ext cx="1401366" cy="0"/>
          </a:xfrm>
          <a:prstGeom prst="line">
            <a:avLst/>
          </a:prstGeom>
          <a:noFill/>
          <a:ln w="38100">
            <a:solidFill>
              <a:srgbClr val="0DB7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16834" y="2596604"/>
            <a:ext cx="111849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DB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16834" y="2831455"/>
            <a:ext cx="1118497" cy="571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Repositorio de imagenes (Docker Hub)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83250" y="987326"/>
            <a:ext cx="3352800" cy="3902273"/>
          </a:xfrm>
          <a:prstGeom prst="roundRect">
            <a:avLst>
              <a:gd name="adj" fmla="val 3030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473750" y="1177826"/>
            <a:ext cx="303123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0DB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Comandos Basicos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73750" y="1539776"/>
            <a:ext cx="2971800" cy="488752"/>
          </a:xfrm>
          <a:prstGeom prst="roundRect">
            <a:avLst>
              <a:gd name="adj" fmla="val 10394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575250" y="1641277"/>
            <a:ext cx="28241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pull nginx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75250" y="1784152"/>
            <a:ext cx="28241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Descargar imagen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73750" y="2130028"/>
            <a:ext cx="2971800" cy="488752"/>
          </a:xfrm>
          <a:prstGeom prst="roundRect">
            <a:avLst>
              <a:gd name="adj" fmla="val 10394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575250" y="2231529"/>
            <a:ext cx="28241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-d nginx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575250" y="2374404"/>
            <a:ext cx="28241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Ejecutar contenedor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73750" y="2720280"/>
            <a:ext cx="2971800" cy="488752"/>
          </a:xfrm>
          <a:prstGeom prst="roundRect">
            <a:avLst>
              <a:gd name="adj" fmla="val 10394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575250" y="2821781"/>
            <a:ext cx="28241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575250" y="2964656"/>
            <a:ext cx="28241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Listar contenedores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73750" y="3310533"/>
            <a:ext cx="2971800" cy="488752"/>
          </a:xfrm>
          <a:prstGeom prst="roundRect">
            <a:avLst>
              <a:gd name="adj" fmla="val 10394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575250" y="3412034"/>
            <a:ext cx="28241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stop &lt;id&gt;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75250" y="3554909"/>
            <a:ext cx="28241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Detener contenedor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152227"/>
          </a:xfrm>
          <a:prstGeom prst="rect">
            <a:avLst/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Modulo 2: Introduccion a Kubernetes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688777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400" dirty="0">
                <a:solidFill>
                  <a:srgbClr val="AEC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Objetivo: Entender que es Kubernetes y para que se utiliza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7950" y="1533227"/>
            <a:ext cx="82906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Temas a Cubrir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7950" y="2110978"/>
            <a:ext cx="8128099" cy="2234357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lnSpc>
                <a:spcPts val="288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es Kubernetes?</a:t>
            </a:r>
            <a:endParaRPr lang="en-US" sz="1600" dirty="0"/>
          </a:p>
          <a:p>
            <a:pPr algn="l" marL="158750" indent="-158750">
              <a:lnSpc>
                <a:spcPts val="288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 y ecosistema (CNCF)</a:t>
            </a:r>
            <a:endParaRPr lang="en-US" sz="1600" dirty="0"/>
          </a:p>
          <a:p>
            <a:pPr algn="l" marL="158750" indent="-158750">
              <a:lnSpc>
                <a:spcPts val="288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de uso en la industria</a:t>
            </a:r>
            <a:endParaRPr lang="en-US" sz="1600" dirty="0"/>
          </a:p>
          <a:p>
            <a:pPr algn="l" marL="158750" indent="-158750">
              <a:lnSpc>
                <a:spcPts val="288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general</a:t>
            </a:r>
            <a:endParaRPr lang="en-US" sz="1600" dirty="0"/>
          </a:p>
          <a:p>
            <a:pPr algn="l" marL="158750" indent="-158750">
              <a:lnSpc>
                <a:spcPts val="288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Componentes principales del cluster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es Kubernetes?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1050875"/>
            <a:ext cx="3951021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0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K8s = Orquestador de Contenedores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7950" y="1831925"/>
            <a:ext cx="3951021" cy="853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Aft>
                <a:spcPts val="2000"/>
              </a:spcAft>
              <a:buNone/>
            </a:pPr>
            <a:r>
              <a:rPr lang="en-US" sz="14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codigo abierto para automatizar el despliegue, escalado y gestion de aplicaciones en contenedores.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7950" y="2939504"/>
            <a:ext cx="3873550" cy="1353145"/>
          </a:xfrm>
          <a:prstGeom prst="roundRect">
            <a:avLst>
              <a:gd name="adj" fmla="val 5631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31763" y="2939504"/>
            <a:ext cx="0" cy="1353145"/>
          </a:xfrm>
          <a:prstGeom prst="line">
            <a:avLst/>
          </a:prstGeom>
          <a:noFill/>
          <a:ln w="47625">
            <a:solidFill>
              <a:srgbClr val="326C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6075" y="3130004"/>
            <a:ext cx="351382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Origen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6075" y="3431530"/>
            <a:ext cx="3513823" cy="670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Creado por Google en 2014, basado en 15 anos de experiencia con Borg. Ahora mantenido por la CNCF (Cloud Native Computing Foundation).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62500" y="1050875"/>
            <a:ext cx="395102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Resuelve?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62500" y="1479500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72484" y="1546175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94250" y="1479500"/>
            <a:ext cx="256990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Despliegue automatizado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94250" y="1689050"/>
            <a:ext cx="256990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Despliega contenedores donde hay recursos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62500" y="1984325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72484" y="2051000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94250" y="1984325"/>
            <a:ext cx="22242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Escalado automatico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94250" y="2193875"/>
            <a:ext cx="22242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 o menos replicas segun demanda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62500" y="2489150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72484" y="2555825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94250" y="2489150"/>
            <a:ext cx="172040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Self-healing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94250" y="2698700"/>
            <a:ext cx="17204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Reinicia contenedores fallidos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62500" y="2993975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72484" y="3060650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94250" y="2993975"/>
            <a:ext cx="206575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discovery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94250" y="3203525"/>
            <a:ext cx="20657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servicios se encuentran entre si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2865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52400"/>
            <a:ext cx="82906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de Uso en la Industria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50" y="781050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las empresas usan Kubernetes?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7950" y="1117550"/>
            <a:ext cx="1955899" cy="3245197"/>
          </a:xfrm>
          <a:prstGeom prst="roundRect">
            <a:avLst>
              <a:gd name="adj" fmla="val 2597"/>
            </a:avLst>
          </a:prstGeom>
          <a:solidFill>
            <a:srgbClr val="F8F9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7950" y="1136600"/>
            <a:ext cx="1955899" cy="0"/>
          </a:xfrm>
          <a:prstGeom prst="line">
            <a:avLst/>
          </a:prstGeom>
          <a:noFill/>
          <a:ln w="38100">
            <a:solidFill>
              <a:srgbClr val="326C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9451" y="1257151"/>
            <a:ext cx="17879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Microservicios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09451" y="1450777"/>
            <a:ext cx="17879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Descomponer apps monoliticas en servicios independientes y escalables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565350" y="1117550"/>
            <a:ext cx="1955899" cy="3245197"/>
          </a:xfrm>
          <a:prstGeom prst="roundRect">
            <a:avLst>
              <a:gd name="adj" fmla="val 2597"/>
            </a:avLst>
          </a:prstGeom>
          <a:solidFill>
            <a:srgbClr val="F8F9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2565350" y="1136600"/>
            <a:ext cx="1955899" cy="0"/>
          </a:xfrm>
          <a:prstGeom prst="line">
            <a:avLst/>
          </a:prstGeom>
          <a:noFill/>
          <a:ln w="38100">
            <a:solidFill>
              <a:srgbClr val="326C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66851" y="1257151"/>
            <a:ext cx="17879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66851" y="1450777"/>
            <a:ext cx="17879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Despliegue continuo con actualizaciones sin downtime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622750" y="1117550"/>
            <a:ext cx="1955899" cy="3245197"/>
          </a:xfrm>
          <a:prstGeom prst="roundRect">
            <a:avLst>
              <a:gd name="adj" fmla="val 2597"/>
            </a:avLst>
          </a:prstGeom>
          <a:solidFill>
            <a:srgbClr val="F8F9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622750" y="1136600"/>
            <a:ext cx="1955899" cy="0"/>
          </a:xfrm>
          <a:prstGeom prst="line">
            <a:avLst/>
          </a:prstGeom>
          <a:noFill/>
          <a:ln w="38100">
            <a:solidFill>
              <a:srgbClr val="326C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24251" y="1257151"/>
            <a:ext cx="17879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Multi-Cloud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24251" y="1450777"/>
            <a:ext cx="17879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Ejecutar en AWS, Azure, GCP o on-premise sin cambios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680150" y="1117550"/>
            <a:ext cx="1955899" cy="3245197"/>
          </a:xfrm>
          <a:prstGeom prst="roundRect">
            <a:avLst>
              <a:gd name="adj" fmla="val 2597"/>
            </a:avLst>
          </a:prstGeom>
          <a:solidFill>
            <a:srgbClr val="F8F9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680150" y="1136600"/>
            <a:ext cx="1955899" cy="0"/>
          </a:xfrm>
          <a:prstGeom prst="line">
            <a:avLst/>
          </a:prstGeom>
          <a:noFill/>
          <a:ln w="38100">
            <a:solidFill>
              <a:srgbClr val="326C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81651" y="1257151"/>
            <a:ext cx="17879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 Disponibilidad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781651" y="1450777"/>
            <a:ext cx="17879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 resilientes que sobreviven fallos de hardware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07950" y="4489698"/>
            <a:ext cx="8128099" cy="501402"/>
          </a:xfrm>
          <a:prstGeom prst="roundRect">
            <a:avLst>
              <a:gd name="adj" fmla="val 10132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09451" y="4591199"/>
            <a:ext cx="80836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Empresas que usan K8s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09451" y="4775299"/>
            <a:ext cx="8083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Spotify, Airbnb, Pinterest, The New York Times, Pokemon GO, Adidas, ING, BBVA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152227"/>
          </a:xfrm>
          <a:prstGeom prst="rect">
            <a:avLst/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Modulo 3: Arquitectura de Kubernetes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688777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400" dirty="0">
                <a:solidFill>
                  <a:srgbClr val="AEC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Objetivo: Comprender como funciona internamente un cluster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7950" y="1533227"/>
            <a:ext cx="82906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Temas a Cubrir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7950" y="2110978"/>
            <a:ext cx="8128099" cy="2234357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lnSpc>
                <a:spcPts val="288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Plane (Master Node)</a:t>
            </a:r>
            <a:endParaRPr lang="en-US" sz="1600" dirty="0"/>
          </a:p>
          <a:p>
            <a:pPr algn="l" marL="158750" indent="-158750">
              <a:lnSpc>
                <a:spcPts val="288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Nodes</a:t>
            </a:r>
            <a:endParaRPr lang="en-US" sz="1600" dirty="0"/>
          </a:p>
          <a:p>
            <a:pPr algn="l" marL="158750" indent="-158750">
              <a:lnSpc>
                <a:spcPts val="288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Componentes: API Server, etcd, Scheduler</a:t>
            </a:r>
            <a:endParaRPr lang="en-US" sz="1600" dirty="0"/>
          </a:p>
          <a:p>
            <a:pPr algn="l" marL="158750" indent="-158750">
              <a:lnSpc>
                <a:spcPts val="288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Kubelet y Kube-proxy</a:t>
            </a:r>
            <a:endParaRPr lang="en-US" sz="1600" dirty="0"/>
          </a:p>
          <a:p>
            <a:pPr algn="l" marL="158750" indent="-158750">
              <a:lnSpc>
                <a:spcPts val="288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de comunicacion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2865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52400"/>
            <a:ext cx="82906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 un Cluster Kubernetes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819150"/>
            <a:ext cx="3654921" cy="4133850"/>
          </a:xfrm>
          <a:prstGeom prst="roundRect">
            <a:avLst>
              <a:gd name="adj" fmla="val 2780"/>
            </a:avLst>
          </a:prstGeom>
          <a:solidFill>
            <a:srgbClr val="FEF9E7"/>
          </a:solidFill>
          <a:ln w="19050">
            <a:solidFill>
              <a:srgbClr val="F39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9330" y="990600"/>
            <a:ext cx="337826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D689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Plane (Master)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52450" y="1327100"/>
            <a:ext cx="3312021" cy="526852"/>
          </a:xfrm>
          <a:prstGeom prst="roundRect">
            <a:avLst>
              <a:gd name="adj" fmla="val 964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71500" y="1327100"/>
            <a:ext cx="0" cy="526852"/>
          </a:xfrm>
          <a:prstGeom prst="line">
            <a:avLst/>
          </a:prstGeom>
          <a:noFill/>
          <a:ln w="38100">
            <a:solidFill>
              <a:srgbClr val="326C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2051" y="1428601"/>
            <a:ext cx="31323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kube-apiserver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2051" y="1619101"/>
            <a:ext cx="31323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Punto de entrada. Expone la API REST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52450" y="1930152"/>
            <a:ext cx="3312021" cy="526852"/>
          </a:xfrm>
          <a:prstGeom prst="roundRect">
            <a:avLst>
              <a:gd name="adj" fmla="val 964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71500" y="1930152"/>
            <a:ext cx="0" cy="526852"/>
          </a:xfrm>
          <a:prstGeom prst="line">
            <a:avLst/>
          </a:prstGeom>
          <a:noFill/>
          <a:ln w="38100">
            <a:solidFill>
              <a:srgbClr val="326C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2051" y="2031653"/>
            <a:ext cx="31323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2051" y="2222153"/>
            <a:ext cx="31323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 clave-valor. Estado del cluster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52450" y="2533204"/>
            <a:ext cx="3312021" cy="526852"/>
          </a:xfrm>
          <a:prstGeom prst="roundRect">
            <a:avLst>
              <a:gd name="adj" fmla="val 964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71500" y="2533204"/>
            <a:ext cx="0" cy="526852"/>
          </a:xfrm>
          <a:prstGeom prst="line">
            <a:avLst/>
          </a:prstGeom>
          <a:noFill/>
          <a:ln w="38100">
            <a:solidFill>
              <a:srgbClr val="326C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2051" y="2634704"/>
            <a:ext cx="31323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kube-scheduler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92051" y="2825204"/>
            <a:ext cx="31323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donde correr cada Pod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52450" y="3136255"/>
            <a:ext cx="3312021" cy="526852"/>
          </a:xfrm>
          <a:prstGeom prst="roundRect">
            <a:avLst>
              <a:gd name="adj" fmla="val 964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71500" y="3136255"/>
            <a:ext cx="0" cy="526852"/>
          </a:xfrm>
          <a:prstGeom prst="line">
            <a:avLst/>
          </a:prstGeom>
          <a:noFill/>
          <a:ln w="38100">
            <a:solidFill>
              <a:srgbClr val="326C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2051" y="3237756"/>
            <a:ext cx="31323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controller-manager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2051" y="3428256"/>
            <a:ext cx="31323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Reconcilia estado deseado vs actual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318099" y="2316361"/>
            <a:ext cx="517958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2000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←→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363269" y="2738438"/>
            <a:ext cx="41746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2000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284178" y="3160514"/>
            <a:ext cx="57564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2000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108079" y="819150"/>
            <a:ext cx="3654921" cy="4133850"/>
          </a:xfrm>
          <a:prstGeom prst="roundRect">
            <a:avLst>
              <a:gd name="adj" fmla="val 2780"/>
            </a:avLst>
          </a:prstGeom>
          <a:solidFill>
            <a:srgbClr val="E8F8F5"/>
          </a:solidFill>
          <a:ln w="19050">
            <a:solidFill>
              <a:srgbClr val="1ABC9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246409" y="990600"/>
            <a:ext cx="337826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7A5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Nodes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79529" y="1327100"/>
            <a:ext cx="3312021" cy="526852"/>
          </a:xfrm>
          <a:prstGeom prst="roundRect">
            <a:avLst>
              <a:gd name="adj" fmla="val 964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5298579" y="1327100"/>
            <a:ext cx="0" cy="526852"/>
          </a:xfrm>
          <a:prstGeom prst="line">
            <a:avLst/>
          </a:prstGeom>
          <a:noFill/>
          <a:ln w="38100">
            <a:solidFill>
              <a:srgbClr val="326C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19130" y="1428601"/>
            <a:ext cx="31323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kubelet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19130" y="1619101"/>
            <a:ext cx="31323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 que corre en cada nodo. Gestiona Pods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279529" y="1930152"/>
            <a:ext cx="3312021" cy="526852"/>
          </a:xfrm>
          <a:prstGeom prst="roundRect">
            <a:avLst>
              <a:gd name="adj" fmla="val 964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5298579" y="1930152"/>
            <a:ext cx="0" cy="526852"/>
          </a:xfrm>
          <a:prstGeom prst="line">
            <a:avLst/>
          </a:prstGeom>
          <a:noFill/>
          <a:ln w="38100">
            <a:solidFill>
              <a:srgbClr val="326C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19130" y="2031653"/>
            <a:ext cx="31323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kube-proxy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19130" y="2222153"/>
            <a:ext cx="31323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 de red para comunicacion de Pods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279529" y="2533204"/>
            <a:ext cx="3312021" cy="526852"/>
          </a:xfrm>
          <a:prstGeom prst="roundRect">
            <a:avLst>
              <a:gd name="adj" fmla="val 964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5298579" y="2533204"/>
            <a:ext cx="0" cy="526852"/>
          </a:xfrm>
          <a:prstGeom prst="line">
            <a:avLst/>
          </a:prstGeom>
          <a:noFill/>
          <a:ln w="38100">
            <a:solidFill>
              <a:srgbClr val="326CE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19130" y="2634704"/>
            <a:ext cx="31323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Runtime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19130" y="2825204"/>
            <a:ext cx="31323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Ejecuta contenedores (containerd, CRI-O)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279529" y="3136255"/>
            <a:ext cx="3312021" cy="526852"/>
          </a:xfrm>
          <a:prstGeom prst="roundRect">
            <a:avLst>
              <a:gd name="adj" fmla="val 964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5298579" y="3136255"/>
            <a:ext cx="0" cy="526852"/>
          </a:xfrm>
          <a:prstGeom prst="line">
            <a:avLst/>
          </a:prstGeom>
          <a:noFill/>
          <a:ln w="38100">
            <a:solidFill>
              <a:srgbClr val="326CE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19130" y="3237756"/>
            <a:ext cx="31323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419130" y="3428256"/>
            <a:ext cx="31323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minima. Uno o mas contenedores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Plane - Componentes en Detalle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987326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800" b="1" dirty="0">
                <a:solidFill>
                  <a:srgbClr val="D689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cerebro del cluster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7950" y="1444526"/>
            <a:ext cx="1917650" cy="1466552"/>
          </a:xfrm>
          <a:prstGeom prst="roundRect">
            <a:avLst>
              <a:gd name="adj" fmla="val 5196"/>
            </a:avLst>
          </a:prstGeom>
          <a:solidFill>
            <a:srgbClr val="FEF9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7950" y="1468338"/>
            <a:ext cx="1917650" cy="0"/>
          </a:xfrm>
          <a:prstGeom prst="line">
            <a:avLst/>
          </a:prstGeom>
          <a:noFill/>
          <a:ln w="47625">
            <a:solidFill>
              <a:srgbClr val="F39C1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0350" y="1644551"/>
            <a:ext cx="16451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D689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Server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0350" y="1946077"/>
            <a:ext cx="164510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del cluster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60350" y="2225278"/>
            <a:ext cx="1612850" cy="5334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buSzPct val="100000"/>
              <a:buChar char="•"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Unica forma de interactuar con K8s</a:t>
            </a:r>
            <a:endParaRPr lang="en-US" sz="900" dirty="0"/>
          </a:p>
          <a:p>
            <a:pPr algn="l" marL="76200" indent="-76200">
              <a:buSzPct val="100000"/>
              <a:buChar char="•"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 y procesa requests</a:t>
            </a:r>
            <a:endParaRPr lang="en-US" sz="900" dirty="0"/>
          </a:p>
          <a:p>
            <a:pPr algn="l" marL="76200" indent="-76200">
              <a:buSzPct val="100000"/>
              <a:buChar char="•"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kubectl habla con el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578001" y="1444526"/>
            <a:ext cx="1917799" cy="1466552"/>
          </a:xfrm>
          <a:prstGeom prst="roundRect">
            <a:avLst>
              <a:gd name="adj" fmla="val 5196"/>
            </a:avLst>
          </a:prstGeom>
          <a:solidFill>
            <a:srgbClr val="FEF9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2578001" y="1468338"/>
            <a:ext cx="1917799" cy="0"/>
          </a:xfrm>
          <a:prstGeom prst="line">
            <a:avLst/>
          </a:prstGeom>
          <a:noFill/>
          <a:ln w="47625">
            <a:solidFill>
              <a:srgbClr val="F39C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30401" y="1644551"/>
            <a:ext cx="164525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D689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30401" y="1946077"/>
            <a:ext cx="164525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Almacen de estado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30401" y="2225278"/>
            <a:ext cx="1612999" cy="5334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buSzPct val="100000"/>
              <a:buChar char="•"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 distribuida</a:t>
            </a:r>
            <a:endParaRPr lang="en-US" sz="900" dirty="0"/>
          </a:p>
          <a:p>
            <a:pPr algn="l" marL="76200" indent="-76200">
              <a:buSzPct val="100000"/>
              <a:buChar char="•"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 TODA la config</a:t>
            </a:r>
            <a:endParaRPr lang="en-US" sz="900" dirty="0"/>
          </a:p>
          <a:p>
            <a:pPr algn="l" marL="76200" indent="-76200">
              <a:buSzPct val="100000"/>
              <a:buChar char="•"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Critico: si se pierde, se pierde el cluster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48200" y="1444526"/>
            <a:ext cx="1917650" cy="1466552"/>
          </a:xfrm>
          <a:prstGeom prst="roundRect">
            <a:avLst>
              <a:gd name="adj" fmla="val 5196"/>
            </a:avLst>
          </a:prstGeom>
          <a:solidFill>
            <a:srgbClr val="FEF9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648200" y="1468338"/>
            <a:ext cx="1917650" cy="0"/>
          </a:xfrm>
          <a:prstGeom prst="line">
            <a:avLst/>
          </a:prstGeom>
          <a:noFill/>
          <a:ln w="47625">
            <a:solidFill>
              <a:srgbClr val="F39C1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644551"/>
            <a:ext cx="16451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D689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00600" y="1946077"/>
            <a:ext cx="164510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Asigna Pods a Nodos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00600" y="2225278"/>
            <a:ext cx="1612850" cy="40005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buSzPct val="100000"/>
              <a:buChar char="•"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 recursos disponibles</a:t>
            </a:r>
            <a:endParaRPr lang="en-US" sz="900" dirty="0"/>
          </a:p>
          <a:p>
            <a:pPr algn="l" marL="76200" indent="-76200">
              <a:buSzPct val="100000"/>
              <a:buChar char="•"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Considera restricciones</a:t>
            </a:r>
            <a:endParaRPr lang="en-US" sz="900" dirty="0"/>
          </a:p>
          <a:p>
            <a:pPr algn="l" marL="76200" indent="-76200">
              <a:buSzPct val="100000"/>
              <a:buChar char="•"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Balancea carga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718250" y="1444526"/>
            <a:ext cx="1917799" cy="1466552"/>
          </a:xfrm>
          <a:prstGeom prst="roundRect">
            <a:avLst>
              <a:gd name="adj" fmla="val 5196"/>
            </a:avLst>
          </a:prstGeom>
          <a:solidFill>
            <a:srgbClr val="FEF9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718250" y="1468338"/>
            <a:ext cx="1917799" cy="0"/>
          </a:xfrm>
          <a:prstGeom prst="line">
            <a:avLst/>
          </a:prstGeom>
          <a:noFill/>
          <a:ln w="47625">
            <a:solidFill>
              <a:srgbClr val="F39C1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70650" y="1644551"/>
            <a:ext cx="164525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D689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 Manager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70650" y="1946077"/>
            <a:ext cx="164525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loops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70650" y="2225278"/>
            <a:ext cx="1612999" cy="40005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buSzPct val="100000"/>
              <a:buChar char="•"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ReplicaSet controller</a:t>
            </a:r>
            <a:endParaRPr lang="en-US" sz="900" dirty="0"/>
          </a:p>
          <a:p>
            <a:pPr algn="l" marL="76200" indent="-76200">
              <a:buSzPct val="100000"/>
              <a:buChar char="•"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controller</a:t>
            </a:r>
            <a:endParaRPr lang="en-US" sz="900" dirty="0"/>
          </a:p>
          <a:p>
            <a:pPr algn="l" marL="76200" indent="-76200">
              <a:buSzPct val="100000"/>
              <a:buChar char="•"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Mantiene estado deseado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7950" y="3101578"/>
            <a:ext cx="8128099" cy="457200"/>
          </a:xfrm>
          <a:prstGeom prst="roundRect">
            <a:avLst>
              <a:gd name="adj" fmla="val 16667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60350" y="3253978"/>
            <a:ext cx="79797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Control Plane puede correr en uno o multiples nodos para alta disponibilidad (HA).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Nodes - Donde Corren tus Apps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987326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800" b="1" dirty="0">
                <a:solidFill>
                  <a:srgbClr val="17A5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Componentes de cada Worker Node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7950" y="1444526"/>
            <a:ext cx="2540050" cy="1958876"/>
          </a:xfrm>
          <a:prstGeom prst="roundRect">
            <a:avLst>
              <a:gd name="adj" fmla="val 3890"/>
            </a:avLst>
          </a:prstGeom>
          <a:solidFill>
            <a:srgbClr val="E8F8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7950" y="1468338"/>
            <a:ext cx="2540050" cy="0"/>
          </a:xfrm>
          <a:prstGeom prst="line">
            <a:avLst/>
          </a:prstGeom>
          <a:noFill/>
          <a:ln w="47625">
            <a:solidFill>
              <a:srgbClr val="1ABC9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8450" y="1682651"/>
            <a:ext cx="220223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7A5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kubelet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98450" y="2019151"/>
            <a:ext cx="220223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 principal del nodo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8450" y="2355652"/>
            <a:ext cx="2159050" cy="85725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buSzPct val="100000"/>
              <a:buChar char="•"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Recibe instrucciones del API Server</a:t>
            </a:r>
            <a:endParaRPr lang="en-US" sz="1000" dirty="0"/>
          </a:p>
          <a:p>
            <a:pPr algn="l" marL="95250" indent="-95250">
              <a:buSzPct val="100000"/>
              <a:buChar char="•"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Asegura que los Pods corran</a:t>
            </a:r>
            <a:endParaRPr lang="en-US" sz="1000" dirty="0"/>
          </a:p>
          <a:p>
            <a:pPr algn="l" marL="95250" indent="-95250">
              <a:buSzPct val="100000"/>
              <a:buChar char="•"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Reporta estado del nodo</a:t>
            </a:r>
            <a:endParaRPr lang="en-US" sz="1000" dirty="0"/>
          </a:p>
          <a:p>
            <a:pPr algn="l" marL="95250" indent="-95250">
              <a:buSzPct val="100000"/>
              <a:buChar char="•"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Gestiona el ciclo de vida de contenedores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01901" y="1444526"/>
            <a:ext cx="2540198" cy="1958876"/>
          </a:xfrm>
          <a:prstGeom prst="roundRect">
            <a:avLst>
              <a:gd name="adj" fmla="val 3890"/>
            </a:avLst>
          </a:prstGeom>
          <a:solidFill>
            <a:srgbClr val="E8F8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301901" y="1468338"/>
            <a:ext cx="2540198" cy="0"/>
          </a:xfrm>
          <a:prstGeom prst="line">
            <a:avLst/>
          </a:prstGeom>
          <a:noFill/>
          <a:ln w="47625">
            <a:solidFill>
              <a:srgbClr val="1ABC9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92401" y="1682651"/>
            <a:ext cx="220238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7A5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kube-proxy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92401" y="2019151"/>
            <a:ext cx="220238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Proxy de red en cada nodo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92401" y="2355652"/>
            <a:ext cx="2159198" cy="714375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buSzPct val="100000"/>
              <a:buChar char="•"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 Services de K8s</a:t>
            </a:r>
            <a:endParaRPr lang="en-US" sz="1000" dirty="0"/>
          </a:p>
          <a:p>
            <a:pPr algn="l" marL="95250" indent="-95250">
              <a:buSzPct val="100000"/>
              <a:buChar char="•"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Mantiene reglas de red (iptables/IPVS)</a:t>
            </a:r>
            <a:endParaRPr lang="en-US" sz="1000" dirty="0"/>
          </a:p>
          <a:p>
            <a:pPr algn="l" marL="95250" indent="-95250">
              <a:buSzPct val="100000"/>
              <a:buChar char="•"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Balancea trafico a Pods</a:t>
            </a:r>
            <a:endParaRPr lang="en-US" sz="1000" dirty="0"/>
          </a:p>
          <a:p>
            <a:pPr algn="l" marL="95250" indent="-95250">
              <a:buSzPct val="100000"/>
              <a:buChar char="•"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Habilita comunicacion Pod-to-Pod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096000" y="1444526"/>
            <a:ext cx="2540050" cy="1958876"/>
          </a:xfrm>
          <a:prstGeom prst="roundRect">
            <a:avLst>
              <a:gd name="adj" fmla="val 3890"/>
            </a:avLst>
          </a:prstGeom>
          <a:solidFill>
            <a:srgbClr val="E8F8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096000" y="1468338"/>
            <a:ext cx="2540050" cy="0"/>
          </a:xfrm>
          <a:prstGeom prst="line">
            <a:avLst/>
          </a:prstGeom>
          <a:noFill/>
          <a:ln w="47625">
            <a:solidFill>
              <a:srgbClr val="1ABC9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86500" y="1682651"/>
            <a:ext cx="220223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7A5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Runtime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86500" y="2019151"/>
            <a:ext cx="220223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de contenedores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86500" y="2355652"/>
            <a:ext cx="2159050" cy="714375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buSzPct val="100000"/>
              <a:buChar char="•"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containerd (default desde K8s 1.24)</a:t>
            </a:r>
            <a:endParaRPr lang="en-US" sz="1000" dirty="0"/>
          </a:p>
          <a:p>
            <a:pPr algn="l" marL="95250" indent="-95250">
              <a:buSzPct val="100000"/>
              <a:buChar char="•"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CRI-O</a:t>
            </a:r>
            <a:endParaRPr lang="en-US" sz="1000" dirty="0"/>
          </a:p>
          <a:p>
            <a:pPr algn="l" marL="95250" indent="-95250">
              <a:buSzPct val="100000"/>
              <a:buChar char="•"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Descarga imagenes</a:t>
            </a:r>
            <a:endParaRPr lang="en-US" sz="1000" dirty="0"/>
          </a:p>
          <a:p>
            <a:pPr algn="l" marL="95250" indent="-95250">
              <a:buSzPct val="100000"/>
              <a:buChar char="•"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Ejecuta contenedores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7950" y="3593902"/>
            <a:ext cx="8128099" cy="650677"/>
          </a:xfrm>
          <a:prstGeom prst="roundRect">
            <a:avLst>
              <a:gd name="adj" fmla="val 11711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286619" y="3746302"/>
            <a:ext cx="707082" cy="345877"/>
          </a:xfrm>
          <a:prstGeom prst="roundRect">
            <a:avLst>
              <a:gd name="adj" fmla="val 14687"/>
            </a:avLst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439019" y="3847802"/>
            <a:ext cx="4103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kubectl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184202" y="3800177"/>
            <a:ext cx="20721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577852" y="3746302"/>
            <a:ext cx="918716" cy="345877"/>
          </a:xfrm>
          <a:prstGeom prst="roundRect">
            <a:avLst>
              <a:gd name="adj" fmla="val 14687"/>
            </a:avLst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730252" y="3847802"/>
            <a:ext cx="6261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Server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87068" y="3800177"/>
            <a:ext cx="20721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080718" y="3746302"/>
            <a:ext cx="714226" cy="345877"/>
          </a:xfrm>
          <a:prstGeom prst="roundRect">
            <a:avLst>
              <a:gd name="adj" fmla="val 14687"/>
            </a:avLst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233118" y="3847802"/>
            <a:ext cx="4176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kubelet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85445" y="3800177"/>
            <a:ext cx="20721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379095" y="3746302"/>
            <a:ext cx="1363266" cy="345877"/>
          </a:xfrm>
          <a:prstGeom prst="roundRect">
            <a:avLst>
              <a:gd name="adj" fmla="val 14687"/>
            </a:avLst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531495" y="3847802"/>
            <a:ext cx="10796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Runtime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932861" y="3800177"/>
            <a:ext cx="20721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326511" y="3746302"/>
            <a:ext cx="530721" cy="345877"/>
          </a:xfrm>
          <a:prstGeom prst="roundRect">
            <a:avLst>
              <a:gd name="adj" fmla="val 14687"/>
            </a:avLst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478911" y="3847802"/>
            <a:ext cx="2304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Laboratorios - Nivel 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987326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1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 lo aprendido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7950" y="1507927"/>
            <a:ext cx="2582317" cy="2114104"/>
          </a:xfrm>
          <a:prstGeom prst="roundRect">
            <a:avLst>
              <a:gd name="adj" fmla="val 4806"/>
            </a:avLst>
          </a:prstGeom>
          <a:solidFill>
            <a:srgbClr val="F8F9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36525" y="1507927"/>
            <a:ext cx="0" cy="2114104"/>
          </a:xfrm>
          <a:prstGeom prst="line">
            <a:avLst/>
          </a:prstGeom>
          <a:noFill/>
          <a:ln w="57150">
            <a:solidFill>
              <a:srgbClr val="326C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5600" y="1698427"/>
            <a:ext cx="21870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5600" y="2034927"/>
            <a:ext cx="21870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Basics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55600" y="2307878"/>
            <a:ext cx="2187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Instalar Docker y ejecutar tu primer contenedor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55600" y="2695129"/>
            <a:ext cx="2144167" cy="40005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buSzPct val="100000"/>
              <a:buChar char="•"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pull / run / ps</a:t>
            </a:r>
            <a:endParaRPr lang="en-US" sz="900" dirty="0"/>
          </a:p>
          <a:p>
            <a:pPr algn="l" marL="95250" indent="-95250">
              <a:buSzPct val="100000"/>
              <a:buChar char="•"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de vida de contenedores</a:t>
            </a:r>
            <a:endParaRPr lang="en-US" sz="900" dirty="0"/>
          </a:p>
          <a:p>
            <a:pPr algn="l" marL="95250" indent="-95250">
              <a:buSzPct val="100000"/>
              <a:buChar char="•"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Imagen nginx:alpine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55600" y="3196679"/>
            <a:ext cx="546199" cy="234851"/>
          </a:xfrm>
          <a:prstGeom prst="roundRect">
            <a:avLst>
              <a:gd name="adj" fmla="val 16223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57101" y="3247430"/>
            <a:ext cx="3500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min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80767" y="1507927"/>
            <a:ext cx="2582466" cy="2114104"/>
          </a:xfrm>
          <a:prstGeom prst="roundRect">
            <a:avLst>
              <a:gd name="adj" fmla="val 4806"/>
            </a:avLst>
          </a:prstGeom>
          <a:solidFill>
            <a:srgbClr val="F8F9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309342" y="1507927"/>
            <a:ext cx="0" cy="2114104"/>
          </a:xfrm>
          <a:prstGeom prst="line">
            <a:avLst/>
          </a:prstGeom>
          <a:noFill/>
          <a:ln w="57150">
            <a:solidFill>
              <a:srgbClr val="326C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8417" y="1698427"/>
            <a:ext cx="218720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28417" y="2034927"/>
            <a:ext cx="218720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Minikube Setup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28417" y="2307878"/>
            <a:ext cx="218720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Configurar tu cluster local de Kubernetes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28417" y="2695129"/>
            <a:ext cx="2144316" cy="40005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buSzPct val="100000"/>
              <a:buChar char="•"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Instalar Minikube y kubectl</a:t>
            </a:r>
            <a:endParaRPr lang="en-US" sz="900" dirty="0"/>
          </a:p>
          <a:p>
            <a:pPr algn="l" marL="95250" indent="-95250">
              <a:buSzPct val="100000"/>
              <a:buChar char="•"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minikube start</a:t>
            </a:r>
            <a:endParaRPr lang="en-US" sz="900" dirty="0"/>
          </a:p>
          <a:p>
            <a:pPr algn="l" marL="95250" indent="-95250">
              <a:buSzPct val="100000"/>
              <a:buChar char="•"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Verificar cluster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528417" y="3196679"/>
            <a:ext cx="546199" cy="234851"/>
          </a:xfrm>
          <a:prstGeom prst="roundRect">
            <a:avLst>
              <a:gd name="adj" fmla="val 16223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629918" y="3247430"/>
            <a:ext cx="3500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053733" y="1507927"/>
            <a:ext cx="2582317" cy="2114104"/>
          </a:xfrm>
          <a:prstGeom prst="roundRect">
            <a:avLst>
              <a:gd name="adj" fmla="val 4806"/>
            </a:avLst>
          </a:prstGeom>
          <a:solidFill>
            <a:srgbClr val="F8F9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6082308" y="1507927"/>
            <a:ext cx="0" cy="2114104"/>
          </a:xfrm>
          <a:prstGeom prst="line">
            <a:avLst/>
          </a:prstGeom>
          <a:noFill/>
          <a:ln w="57150">
            <a:solidFill>
              <a:srgbClr val="326C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1383" y="1698427"/>
            <a:ext cx="21870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03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01383" y="2034927"/>
            <a:ext cx="21870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Exploration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01383" y="2307878"/>
            <a:ext cx="2187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Explorar los componentes internos del cluster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01383" y="2695129"/>
            <a:ext cx="2144167" cy="40005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buSzPct val="100000"/>
              <a:buChar char="•"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kubectl get nodes</a:t>
            </a:r>
            <a:endParaRPr lang="en-US" sz="900" dirty="0"/>
          </a:p>
          <a:p>
            <a:pPr algn="l" marL="95250" indent="-95250">
              <a:buSzPct val="100000"/>
              <a:buChar char="•"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Namespace kube-system</a:t>
            </a:r>
            <a:endParaRPr lang="en-US" sz="900" dirty="0"/>
          </a:p>
          <a:p>
            <a:pPr algn="l" marL="95250" indent="-95250">
              <a:buSzPct val="100000"/>
              <a:buChar char="•"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Pods del Control Plane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01383" y="3196679"/>
            <a:ext cx="546199" cy="234851"/>
          </a:xfrm>
          <a:prstGeom prst="roundRect">
            <a:avLst>
              <a:gd name="adj" fmla="val 16223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402884" y="3247430"/>
            <a:ext cx="3500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17450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 - Nivel 1: Fundamentos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7950" y="879425"/>
            <a:ext cx="2590851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Modulo 1: Cloud y Contenedores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7950" y="1425476"/>
            <a:ext cx="2540050" cy="1294805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Bare Metal → VMs → Contenedores</a:t>
            </a:r>
            <a:endParaRPr lang="en-US" sz="1200" dirty="0"/>
          </a:p>
          <a:p>
            <a:pPr algn="l" marL="114300" indent="-1143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IaaS, PaaS, SaaS</a:t>
            </a:r>
            <a:endParaRPr lang="en-US" sz="1200" dirty="0"/>
          </a:p>
          <a:p>
            <a:pPr algn="l" marL="114300" indent="-1143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Docker: imagenes, contenedores, registry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301901" y="879425"/>
            <a:ext cx="259100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Modulo 2: Intro a Kubernetes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301901" y="1215926"/>
            <a:ext cx="2540198" cy="1294805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Orquestador de contenedores (CNCF)</a:t>
            </a:r>
            <a:endParaRPr lang="en-US" sz="1200" dirty="0"/>
          </a:p>
          <a:p>
            <a:pPr algn="l" marL="114300" indent="-1143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Auto-scaling, self-healing</a:t>
            </a:r>
            <a:endParaRPr lang="en-US" sz="1200" dirty="0"/>
          </a:p>
          <a:p>
            <a:pPr algn="l" marL="114300" indent="-1143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de uso: microservicios, CI/CD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0" y="879425"/>
            <a:ext cx="259085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Modulo 3: Arquitectura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096000" y="1215926"/>
            <a:ext cx="2540050" cy="1553766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Plane: API Server, etcd, Scheduler</a:t>
            </a:r>
            <a:endParaRPr lang="en-US" sz="1200" dirty="0"/>
          </a:p>
          <a:p>
            <a:pPr algn="l" marL="114300" indent="-1143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Workers: kubelet, kube-proxy, runtime</a:t>
            </a:r>
            <a:endParaRPr lang="en-US" sz="1200" dirty="0"/>
          </a:p>
          <a:p>
            <a:pPr algn="l" marL="114300" indent="-1143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= unidad minima de despliegue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6000" y="3023592"/>
            <a:ext cx="2540050" cy="1358652"/>
          </a:xfrm>
          <a:prstGeom prst="roundRect">
            <a:avLst>
              <a:gd name="adj" fmla="val 7478"/>
            </a:avLst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349901" y="3277493"/>
            <a:ext cx="2072893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Siguiente: Nivel 2 - Uso Basico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49901" y="3823543"/>
            <a:ext cx="207289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EC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Pods, Deployments, Services, kubectl, YAML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0" y="4619625"/>
            <a:ext cx="9144000" cy="523875"/>
          </a:xfrm>
          <a:prstGeom prst="rect">
            <a:avLst/>
          </a:prstGeom>
          <a:solidFill>
            <a:srgbClr val="151E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26669" y="4810125"/>
            <a:ext cx="8290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KCD Mexico - Programa Universitario | kubernetes.io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Nivel 1: Fundamentos - Cloud Computing, Contenedores y Kubernetes</dc:title>
  <dc:subject>Curso Universitario de Kubernetes</dc:subject>
  <dc:creator>KCD Mexico</dc:creator>
  <cp:lastModifiedBy>KCD Mexico</cp:lastModifiedBy>
  <cp:revision>1</cp:revision>
  <dcterms:created xsi:type="dcterms:W3CDTF">2026-02-02T07:26:51Z</dcterms:created>
  <dcterms:modified xsi:type="dcterms:W3CDTF">2026-02-02T07:26:51Z</dcterms:modified>
</cp:coreProperties>
</file>